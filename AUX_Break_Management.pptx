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10"/>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X Break Management" id="{1a273a84-65da-e708-385f-e6633db69a79}">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TALK TRACK:</a:t>
            </a:r>
          </a:p>
          <a:p>
            <a:r>
              <a:t>Thank you for your time. With ZEL — 'Zero wait to pause, Zero lag to serve' — contact centers eliminate the daily friction of manual break approvals, empower agents with autonomous ACW, and protect SLA commitments with real-time floor balancing. I'd be glad to take any questions and discuss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 Id="rId7"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THE PROBLEM</a:t>
            </a:r>
            <a:endParaRPr lang="en-US" sz="1200" dirty="0"/>
          </a:p>
        </p:txBody>
      </p:sp>
      <p:sp>
        <p:nvSpPr>
          <p:cNvPr id="5" name="Text 0"/>
          <p:cNvSpPr/>
          <p:nvPr>
            <p:ph idx="100" type="title" hasCustomPrompt="1"/>
          </p:nvPr>
        </p:nvSpPr>
        <p:spPr>
          <a:xfrm>
            <a:off x="548640" y="620000"/>
            <a:ext cx="8046720" cy="420000"/>
          </a:xfrm>
          <a:prstGeom prst="rect">
            <a:avLst/>
          </a:prstGeom>
          <a:noFill/>
          <a:ln/>
        </p:spPr>
        <p:txBody>
          <a:bodyPr wrap="square" lIns="0" tIns="0" rIns="0" bIns="0" rtlCol="0" anchor="t"/>
          <a:lstStyle/>
          <a:p>
            <a:pPr algn="l" indent="0" marL="0">
              <a:buNone/>
              <a:defRPr sz="3200" b="1"/>
            </a:pPr>
            <a:r>
              <a:t>Problem Statement</a:t>
            </a:r>
            <a:endParaRPr lang="en-US" sz="3600" dirty="0"/>
          </a:p>
        </p:txBody>
      </p:sp>
      <p:sp>
        <p:nvSpPr>
          <p:cNvPr id="6" name="Problem card"/>
          <p:cNvSpPr/>
          <p:nvPr/>
        </p:nvSpPr>
        <p:spPr>
          <a:xfrm>
            <a:off x="548640" y="1463040"/>
            <a:ext cx="4663440" cy="3200400"/>
          </a:xfrm>
          <a:prstGeom prst="roundRect">
            <a:avLst>
              <a:gd name="adj" fmla="val 3429"/>
            </a:avLst>
          </a:prstGeom>
          <a:solidFill>
            <a:schemeClr val="accent5"/>
          </a:solidFill>
          <a:ln/>
        </p:spPr>
      </p:sp>
      <p:sp>
        <p:nvSpPr>
          <p:cNvPr id="7" name="Accent bar"/>
          <p:cNvSpPr/>
          <p:nvPr/>
        </p:nvSpPr>
        <p:spPr>
          <a:xfrm>
            <a:off x="548640" y="1737360"/>
            <a:ext cx="73152" cy="2651760"/>
          </a:xfrm>
          <a:prstGeom prst="rect">
            <a:avLst/>
          </a:prstGeom>
          <a:solidFill>
            <a:schemeClr val="accent2"/>
          </a:solidFill>
          <a:ln/>
        </p:spPr>
      </p:sp>
      <p:sp>
        <p:nvSpPr>
          <p:cNvPr id="8" name="Text 6"/>
          <p:cNvSpPr txBox="1"/>
          <p:nvPr/>
        </p:nvSpPr>
        <p:spPr>
          <a:xfrm>
            <a:off x="914400" y="1783080"/>
            <a:ext cx="4023360" cy="2560320"/>
          </a:xfrm>
          <a:prstGeom prst="rect">
            <a:avLst/>
          </a:prstGeom>
          <a:noFill/>
          <a:ln/>
        </p:spPr>
        <p:txBody>
          <a:bodyPr wrap="square" lIns="0" tIns="0" rIns="0" bIns="0" rtlCol="0" anchor="ctr"/>
          <a:lstStyle/>
          <a:p>
            <a:pPr indent="0" marL="0">
              <a:buNone/>
            </a:pPr>
            <a:r>
              <a:rPr lang="en-US" sz="1800" dirty="0">
                <a:solidFill>
                  <a:schemeClr val="bg1"/>
                </a:solidFill>
              </a:rPr>
              <a:t>Contact centers rely on manual AUX break requests and approvals through emails and group chats, resulting in communication delays, limited request visibility, inconsistent tracking, and difficulties maintaining agent adherence and workforce availability.</a:t>
            </a:r>
            <a:endParaRPr lang="en-US" sz="1800" dirty="0"/>
          </a:p>
        </p:txBody>
      </p:sp>
      <p:sp>
        <p:nvSpPr>
          <p:cNvPr id="9" name="Users card"/>
          <p:cNvSpPr/>
          <p:nvPr/>
        </p:nvSpPr>
        <p:spPr>
          <a:xfrm>
            <a:off x="5486400" y="1463040"/>
            <a:ext cx="3108960" cy="3200400"/>
          </a:xfrm>
          <a:prstGeom prst="roundRect">
            <a:avLst>
              <a:gd name="adj" fmla="val 3529"/>
            </a:avLst>
          </a:prstGeom>
          <a:solidFill>
            <a:schemeClr val="accent5"/>
          </a:solidFill>
          <a:ln/>
        </p:spPr>
      </p:sp>
      <p:sp>
        <p:nvSpPr>
          <p:cNvPr id="10" name="Text 8"/>
          <p:cNvSpPr txBox="1"/>
          <p:nvPr/>
        </p:nvSpPr>
        <p:spPr>
          <a:xfrm>
            <a:off x="5715000" y="1645920"/>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AFFECTED USERS</a:t>
            </a:r>
            <a:endParaRPr lang="en-US" sz="1200" dirty="0"/>
          </a:p>
        </p:txBody>
      </p:sp>
      <p:sp>
        <p:nvSpPr>
          <p:cNvPr id="11" name="Icon circle"/>
          <p:cNvSpPr/>
          <p:nvPr/>
        </p:nvSpPr>
        <p:spPr>
          <a:xfrm>
            <a:off x="5715000" y="2057400"/>
            <a:ext cx="475488" cy="475488"/>
          </a:xfrm>
          <a:prstGeom prst="ellipse">
            <a:avLst/>
          </a:prstGeom>
          <a:solidFill>
            <a:schemeClr val="accent1"/>
          </a:solidFill>
          <a:ln/>
        </p:spPr>
      </p:sp>
      <p:pic>
        <p:nvPicPr>
          <p:cNvPr id="12" name="Image 0" descr="Headset icon">    </p:cNvPr>
          <p:cNvPicPr>
            <a:picLocks noChangeAspect="1"/>
          </p:cNvPicPr>
          <p:nvPr/>
        </p:nvPicPr>
        <p:blipFill>
          <a:blip r:embed="rId1"/>
          <a:stretch>
            <a:fillRect/>
          </a:stretch>
        </p:blipFill>
        <p:spPr>
          <a:xfrm>
            <a:off x="5833872" y="2176272"/>
            <a:ext cx="237744" cy="237744"/>
          </a:xfrm>
          <a:prstGeom prst="rect">
            <a:avLst/>
          </a:prstGeom>
        </p:spPr>
      </p:pic>
      <p:sp>
        <p:nvSpPr>
          <p:cNvPr id="13" name="Text 10"/>
          <p:cNvSpPr txBox="1"/>
          <p:nvPr/>
        </p:nvSpPr>
        <p:spPr>
          <a:xfrm>
            <a:off x="6309360" y="2057400"/>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Frontline Agents</a:t>
            </a:r>
            <a:endParaRPr lang="en-US" sz="1600" dirty="0"/>
          </a:p>
        </p:txBody>
      </p:sp>
      <p:sp>
        <p:nvSpPr>
          <p:cNvPr id="14" name="Icon circle"/>
          <p:cNvSpPr/>
          <p:nvPr/>
        </p:nvSpPr>
        <p:spPr>
          <a:xfrm>
            <a:off x="5715000" y="2715768"/>
            <a:ext cx="475488" cy="475488"/>
          </a:xfrm>
          <a:prstGeom prst="ellipse">
            <a:avLst/>
          </a:prstGeom>
          <a:solidFill>
            <a:schemeClr val="accent2"/>
          </a:solidFill>
          <a:ln/>
        </p:spPr>
      </p:sp>
      <p:pic>
        <p:nvPicPr>
          <p:cNvPr id="15" name="Image 1" descr="UserTie icon">    </p:cNvPr>
          <p:cNvPicPr>
            <a:picLocks noChangeAspect="1"/>
          </p:cNvPicPr>
          <p:nvPr/>
        </p:nvPicPr>
        <p:blipFill>
          <a:blip r:embed="rId2"/>
          <a:stretch>
            <a:fillRect/>
          </a:stretch>
        </p:blipFill>
        <p:spPr>
          <a:xfrm>
            <a:off x="5833872" y="2834640"/>
            <a:ext cx="237744" cy="237744"/>
          </a:xfrm>
          <a:prstGeom prst="rect">
            <a:avLst/>
          </a:prstGeom>
        </p:spPr>
      </p:pic>
      <p:sp>
        <p:nvSpPr>
          <p:cNvPr id="16" name="Text 12"/>
          <p:cNvSpPr txBox="1"/>
          <p:nvPr/>
        </p:nvSpPr>
        <p:spPr>
          <a:xfrm>
            <a:off x="6309360" y="2715768"/>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Team Leads &amp; Supervisors</a:t>
            </a:r>
            <a:endParaRPr lang="en-US" sz="1600" dirty="0"/>
          </a:p>
        </p:txBody>
      </p:sp>
      <p:sp>
        <p:nvSpPr>
          <p:cNvPr id="17" name="Icon circle"/>
          <p:cNvSpPr/>
          <p:nvPr/>
        </p:nvSpPr>
        <p:spPr>
          <a:xfrm>
            <a:off x="5715000" y="3374136"/>
            <a:ext cx="475488" cy="475488"/>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5833872" y="3493008"/>
            <a:ext cx="237744" cy="237744"/>
          </a:xfrm>
          <a:prstGeom prst="rect">
            <a:avLst/>
          </a:prstGeom>
        </p:spPr>
      </p:pic>
      <p:sp>
        <p:nvSpPr>
          <p:cNvPr id="19" name="Text 14"/>
          <p:cNvSpPr txBox="1"/>
          <p:nvPr/>
        </p:nvSpPr>
        <p:spPr>
          <a:xfrm>
            <a:off x="6309360" y="3374136"/>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WFM Planners &amp; Operations</a:t>
            </a:r>
            <a:endParaRPr lang="en-US" sz="1600" dirty="0"/>
          </a:p>
        </p:txBody>
      </p:sp>
      <p:sp>
        <p:nvSpPr>
          <p:cNvPr id="20" name="Icon circle"/>
          <p:cNvSpPr/>
          <p:nvPr/>
        </p:nvSpPr>
        <p:spPr>
          <a:xfrm>
            <a:off x="5715000" y="4032504"/>
            <a:ext cx="475488" cy="475488"/>
          </a:xfrm>
          <a:prstGeom prst="ellipse">
            <a:avLst/>
          </a:prstGeom>
          <a:solidFill>
            <a:schemeClr val="accent2"/>
          </a:solidFill>
          <a:ln/>
        </p:spPr>
      </p:sp>
      <p:pic>
        <p:nvPicPr>
          <p:cNvPr id="21" name="Image 3" descr="Users icon">    </p:cNvPr>
          <p:cNvPicPr>
            <a:picLocks noChangeAspect="1"/>
          </p:cNvPicPr>
          <p:nvPr/>
        </p:nvPicPr>
        <p:blipFill>
          <a:blip r:embed="rId4"/>
          <a:stretch>
            <a:fillRect/>
          </a:stretch>
        </p:blipFill>
        <p:spPr>
          <a:xfrm>
            <a:off x="5833872" y="4151376"/>
            <a:ext cx="237744" cy="237744"/>
          </a:xfrm>
          <a:prstGeom prst="rect">
            <a:avLst/>
          </a:prstGeom>
        </p:spPr>
      </p:pic>
      <p:sp>
        <p:nvSpPr>
          <p:cNvPr id="22" name="Text 16"/>
          <p:cNvSpPr txBox="1"/>
          <p:nvPr/>
        </p:nvSpPr>
        <p:spPr>
          <a:xfrm>
            <a:off x="6309360" y="4032504"/>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End Customers</a:t>
            </a:r>
            <a:endParaRPr lang="en-US" sz="1600" dirty="0"/>
          </a:p>
        </p:txBody>
      </p:sp>
      <p:pic>
        <p:nvPicPr>
          <p:cNvPr id="23" name="Picture 22" descr="favicon.png"/>
          <p:cNvPicPr>
            <a:picLocks noChangeAspect="1"/>
          </p:cNvPicPr>
          <p:nvPr/>
        </p:nvPicPr>
        <p:blipFill>
          <a:blip r:embed="rId7"/>
          <a:stretch>
            <a:fillRect/>
          </a:stretch>
        </p:blipFill>
        <p:spPr>
          <a:xfrm>
            <a:off x="548640" y="1070000"/>
            <a:ext cx="320000" cy="320000"/>
          </a:xfrm>
          <a:prstGeom prst="rect">
            <a:avLst/>
          </a:prstGeom>
        </p:spPr>
      </p:pic>
      <p:sp>
        <p:nvSpPr>
          <p:cNvPr id="24" name="TextBox 23"/>
          <p:cNvSpPr txBox="1"/>
          <p:nvPr/>
        </p:nvSpPr>
        <p:spPr>
          <a:xfrm>
            <a:off x="920000" y="1050000"/>
            <a:ext cx="6800000" cy="340000"/>
          </a:xfrm>
          <a:prstGeom prst="rect">
            <a:avLst/>
          </a:prstGeom>
          <a:noFill/>
        </p:spPr>
        <p:txBody>
          <a:bodyPr wrap="square" lIns="0" tIns="0" rIns="0" bIns="0">
            <a:spAutoFit/>
          </a:bodyPr>
          <a:lstStyle/>
          <a:p>
            <a:r>
              <a:rPr b="1" sz="1400">
                <a:solidFill>
                  <a:schemeClr val="tx1"/>
                </a:solidFill>
              </a:rPr>
              <a:t>ZEL</a:t>
            </a:r>
            <a:r>
              <a:rPr sz="1400">
                <a:solidFill>
                  <a:schemeClr val="tx1"/>
                </a:solidFill>
              </a:rPr>
              <a:t> — </a:t>
            </a:r>
            <a:r>
              <a:rPr i="1" sz="1300">
                <a:solidFill>
                  <a:schemeClr val="tx1"/>
                </a:solidFill>
              </a:rPr>
              <a:t>"Zero wait to pause, Zero lag to serve"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PAIN POINTS</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Pain Points – AUX Break Management</a:t>
            </a:r>
            <a:endParaRPr lang="en-US" sz="3600" dirty="0"/>
          </a:p>
        </p:txBody>
      </p:sp>
      <p:sp>
        <p:nvSpPr>
          <p:cNvPr id="6" name="Pain card"/>
          <p:cNvSpPr/>
          <p:nvPr/>
        </p:nvSpPr>
        <p:spPr>
          <a:xfrm>
            <a:off x="548640" y="1417320"/>
            <a:ext cx="3931920" cy="1600200"/>
          </a:xfrm>
          <a:prstGeom prst="roundRect">
            <a:avLst>
              <a:gd name="adj" fmla="val 6857"/>
            </a:avLst>
          </a:prstGeom>
          <a:solidFill>
            <a:schemeClr val="accent5"/>
          </a:solidFill>
          <a:ln/>
        </p:spPr>
      </p:sp>
      <p:sp>
        <p:nvSpPr>
          <p:cNvPr id="7" name="Icon circle"/>
          <p:cNvSpPr/>
          <p:nvPr/>
        </p:nvSpPr>
        <p:spPr>
          <a:xfrm>
            <a:off x="777240" y="1618488"/>
            <a:ext cx="502920" cy="502920"/>
          </a:xfrm>
          <a:prstGeom prst="ellipse">
            <a:avLst/>
          </a:prstGeom>
          <a:solidFill>
            <a:schemeClr val="accent1"/>
          </a:solidFill>
          <a:ln/>
        </p:spPr>
      </p:sp>
      <p:pic>
        <p:nvPicPr>
          <p:cNvPr id="8" name="Image 0" descr="Headset icon">    </p:cNvPr>
          <p:cNvPicPr>
            <a:picLocks noChangeAspect="1"/>
          </p:cNvPicPr>
          <p:nvPr/>
        </p:nvPicPr>
        <p:blipFill>
          <a:blip r:embed="rId1"/>
          <a:stretch>
            <a:fillRect/>
          </a:stretch>
        </p:blipFill>
        <p:spPr>
          <a:xfrm>
            <a:off x="902970" y="1744218"/>
            <a:ext cx="251460" cy="251460"/>
          </a:xfrm>
          <a:prstGeom prst="rect">
            <a:avLst/>
          </a:prstGeom>
        </p:spPr>
      </p:pic>
      <p:sp>
        <p:nvSpPr>
          <p:cNvPr id="9" name="Text 6"/>
          <p:cNvSpPr txBox="1"/>
          <p:nvPr/>
        </p:nvSpPr>
        <p:spPr>
          <a:xfrm>
            <a:off x="14630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Agents</a:t>
            </a:r>
            <a:endParaRPr lang="en-US" sz="2000" dirty="0"/>
          </a:p>
        </p:txBody>
      </p:sp>
      <p:sp>
        <p:nvSpPr>
          <p:cNvPr id="10" name="Text 7"/>
          <p:cNvSpPr txBox="1"/>
          <p:nvPr/>
        </p:nvSpPr>
        <p:spPr>
          <a:xfrm>
            <a:off x="7772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Delayed break approvals, unclear request status, and difficulty communicating break requests.</a:t>
            </a:r>
            <a:endParaRPr lang="en-US" sz="1400" dirty="0"/>
          </a:p>
        </p:txBody>
      </p:sp>
      <p:sp>
        <p:nvSpPr>
          <p:cNvPr id="11" name="Pain card"/>
          <p:cNvSpPr/>
          <p:nvPr/>
        </p:nvSpPr>
        <p:spPr>
          <a:xfrm>
            <a:off x="4663440" y="1417320"/>
            <a:ext cx="3931920" cy="1600200"/>
          </a:xfrm>
          <a:prstGeom prst="roundRect">
            <a:avLst>
              <a:gd name="adj" fmla="val 6857"/>
            </a:avLst>
          </a:prstGeom>
          <a:solidFill>
            <a:schemeClr val="accent5"/>
          </a:solidFill>
          <a:ln/>
        </p:spPr>
      </p:sp>
      <p:sp>
        <p:nvSpPr>
          <p:cNvPr id="12" name="Icon circle"/>
          <p:cNvSpPr/>
          <p:nvPr/>
        </p:nvSpPr>
        <p:spPr>
          <a:xfrm>
            <a:off x="4892040" y="1618488"/>
            <a:ext cx="502920" cy="502920"/>
          </a:xfrm>
          <a:prstGeom prst="ellipse">
            <a:avLst/>
          </a:prstGeom>
          <a:solidFill>
            <a:schemeClr val="accent2"/>
          </a:solidFill>
          <a:ln/>
        </p:spPr>
      </p:sp>
      <p:pic>
        <p:nvPicPr>
          <p:cNvPr id="13" name="Image 1" descr="UserTie icon">    </p:cNvPr>
          <p:cNvPicPr>
            <a:picLocks noChangeAspect="1"/>
          </p:cNvPicPr>
          <p:nvPr/>
        </p:nvPicPr>
        <p:blipFill>
          <a:blip r:embed="rId2"/>
          <a:stretch>
            <a:fillRect/>
          </a:stretch>
        </p:blipFill>
        <p:spPr>
          <a:xfrm>
            <a:off x="5017770" y="1744218"/>
            <a:ext cx="251460" cy="251460"/>
          </a:xfrm>
          <a:prstGeom prst="rect">
            <a:avLst/>
          </a:prstGeom>
        </p:spPr>
      </p:pic>
      <p:sp>
        <p:nvSpPr>
          <p:cNvPr id="14" name="Text 10"/>
          <p:cNvSpPr txBox="1"/>
          <p:nvPr/>
        </p:nvSpPr>
        <p:spPr>
          <a:xfrm>
            <a:off x="55778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Team Leaders (TLs)</a:t>
            </a:r>
            <a:endParaRPr lang="en-US" sz="2000" dirty="0"/>
          </a:p>
        </p:txBody>
      </p:sp>
      <p:sp>
        <p:nvSpPr>
          <p:cNvPr id="15" name="Text 11"/>
          <p:cNvSpPr txBox="1"/>
          <p:nvPr/>
        </p:nvSpPr>
        <p:spPr>
          <a:xfrm>
            <a:off x="48920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High volume of manual requests, repetitive follow-ups, and difficulty tracking approvals.</a:t>
            </a:r>
            <a:endParaRPr lang="en-US" sz="1400" dirty="0"/>
          </a:p>
        </p:txBody>
      </p:sp>
      <p:sp>
        <p:nvSpPr>
          <p:cNvPr id="16" name="Pain card"/>
          <p:cNvSpPr/>
          <p:nvPr/>
        </p:nvSpPr>
        <p:spPr>
          <a:xfrm>
            <a:off x="548640" y="3154680"/>
            <a:ext cx="3931920" cy="1600200"/>
          </a:xfrm>
          <a:prstGeom prst="roundRect">
            <a:avLst>
              <a:gd name="adj" fmla="val 6857"/>
            </a:avLst>
          </a:prstGeom>
          <a:solidFill>
            <a:schemeClr val="accent5"/>
          </a:solidFill>
          <a:ln/>
        </p:spPr>
      </p:sp>
      <p:sp>
        <p:nvSpPr>
          <p:cNvPr id="17" name="Icon circle"/>
          <p:cNvSpPr/>
          <p:nvPr/>
        </p:nvSpPr>
        <p:spPr>
          <a:xfrm>
            <a:off x="777240" y="3355848"/>
            <a:ext cx="502920" cy="502920"/>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902970" y="3481578"/>
            <a:ext cx="251460" cy="251460"/>
          </a:xfrm>
          <a:prstGeom prst="rect">
            <a:avLst/>
          </a:prstGeom>
        </p:spPr>
      </p:pic>
      <p:sp>
        <p:nvSpPr>
          <p:cNvPr id="19" name="Text 14"/>
          <p:cNvSpPr txBox="1"/>
          <p:nvPr/>
        </p:nvSpPr>
        <p:spPr>
          <a:xfrm>
            <a:off x="14630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WFM Management</a:t>
            </a:r>
            <a:endParaRPr lang="en-US" sz="2000" dirty="0"/>
          </a:p>
        </p:txBody>
      </p:sp>
      <p:sp>
        <p:nvSpPr>
          <p:cNvPr id="20" name="Text 15"/>
          <p:cNvSpPr txBox="1"/>
          <p:nvPr/>
        </p:nvSpPr>
        <p:spPr>
          <a:xfrm>
            <a:off x="7772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Limited visibility into agent AUX status, break schedules, and real-time staffing availability.</a:t>
            </a:r>
            <a:endParaRPr lang="en-US" sz="1400" dirty="0"/>
          </a:p>
        </p:txBody>
      </p:sp>
      <p:sp>
        <p:nvSpPr>
          <p:cNvPr id="21" name="Pain card"/>
          <p:cNvSpPr/>
          <p:nvPr/>
        </p:nvSpPr>
        <p:spPr>
          <a:xfrm>
            <a:off x="4663440" y="3154680"/>
            <a:ext cx="3931920" cy="1600200"/>
          </a:xfrm>
          <a:prstGeom prst="roundRect">
            <a:avLst>
              <a:gd name="adj" fmla="val 6857"/>
            </a:avLst>
          </a:prstGeom>
          <a:solidFill>
            <a:schemeClr val="accent5"/>
          </a:solidFill>
          <a:ln/>
        </p:spPr>
      </p:sp>
      <p:sp>
        <p:nvSpPr>
          <p:cNvPr id="22" name="Icon circle"/>
          <p:cNvSpPr/>
          <p:nvPr/>
        </p:nvSpPr>
        <p:spPr>
          <a:xfrm>
            <a:off x="4892040" y="3355848"/>
            <a:ext cx="502920" cy="502920"/>
          </a:xfrm>
          <a:prstGeom prst="ellipse">
            <a:avLst/>
          </a:prstGeom>
          <a:solidFill>
            <a:schemeClr val="accent2"/>
          </a:solidFill>
          <a:ln/>
        </p:spPr>
      </p:sp>
      <p:pic>
        <p:nvPicPr>
          <p:cNvPr id="23" name="Image 3" descr="Users icon">    </p:cNvPr>
          <p:cNvPicPr>
            <a:picLocks noChangeAspect="1"/>
          </p:cNvPicPr>
          <p:nvPr/>
        </p:nvPicPr>
        <p:blipFill>
          <a:blip r:embed="rId4"/>
          <a:stretch>
            <a:fillRect/>
          </a:stretch>
        </p:blipFill>
        <p:spPr>
          <a:xfrm>
            <a:off x="5017770" y="3481578"/>
            <a:ext cx="251460" cy="251460"/>
          </a:xfrm>
          <a:prstGeom prst="rect">
            <a:avLst/>
          </a:prstGeom>
        </p:spPr>
      </p:pic>
      <p:sp>
        <p:nvSpPr>
          <p:cNvPr id="24" name="Text 18"/>
          <p:cNvSpPr txBox="1"/>
          <p:nvPr/>
        </p:nvSpPr>
        <p:spPr>
          <a:xfrm>
            <a:off x="55778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End Customers</a:t>
            </a:r>
            <a:endParaRPr lang="en-US" sz="2000" dirty="0"/>
          </a:p>
        </p:txBody>
      </p:sp>
      <p:sp>
        <p:nvSpPr>
          <p:cNvPr id="25" name="Text 19"/>
          <p:cNvSpPr txBox="1"/>
          <p:nvPr/>
        </p:nvSpPr>
        <p:spPr>
          <a:xfrm>
            <a:off x="48920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Longer wait times and delayed support due to reduced agent availability and staffing gaps.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THE IMPACT</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What We Eliminate</a:t>
            </a:r>
            <a:endParaRPr lang="en-US" sz="3600" dirty="0"/>
          </a:p>
        </p:txBody>
      </p:sp>
      <p:sp>
        <p:nvSpPr>
          <p:cNvPr id="6" name="Impact row"/>
          <p:cNvSpPr/>
          <p:nvPr/>
        </p:nvSpPr>
        <p:spPr>
          <a:xfrm>
            <a:off x="548640" y="1417320"/>
            <a:ext cx="8046720" cy="777240"/>
          </a:xfrm>
          <a:prstGeom prst="roundRect">
            <a:avLst>
              <a:gd name="adj" fmla="val 14118"/>
            </a:avLst>
          </a:prstGeom>
          <a:solidFill>
            <a:schemeClr val="accent5"/>
          </a:solidFill>
          <a:ln/>
        </p:spPr>
      </p:sp>
      <p:sp>
        <p:nvSpPr>
          <p:cNvPr id="7" name="Accent bar"/>
          <p:cNvSpPr/>
          <p:nvPr/>
        </p:nvSpPr>
        <p:spPr>
          <a:xfrm>
            <a:off x="548640" y="1527048"/>
            <a:ext cx="64008" cy="557784"/>
          </a:xfrm>
          <a:prstGeom prst="rect">
            <a:avLst/>
          </a:prstGeom>
          <a:solidFill>
            <a:schemeClr val="accent1"/>
          </a:solidFill>
          <a:ln/>
        </p:spPr>
      </p:sp>
      <p:sp>
        <p:nvSpPr>
          <p:cNvPr id="8" name="Text 6"/>
          <p:cNvSpPr txBox="1"/>
          <p:nvPr/>
        </p:nvSpPr>
        <p:spPr>
          <a:xfrm>
            <a:off x="822960" y="1417320"/>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15–20</a:t>
            </a:r>
            <a:pPr indent="0" marL="0">
              <a:buNone/>
            </a:pPr>
            <a:r>
              <a:rPr lang="en-US" sz="1600" dirty="0">
                <a:solidFill>
                  <a:schemeClr val="accent1"/>
                </a:solidFill>
              </a:rPr>
              <a:t> min</a:t>
            </a:r>
            <a:endParaRPr lang="en-US" sz="1400" dirty="0"/>
          </a:p>
        </p:txBody>
      </p:sp>
      <p:sp>
        <p:nvSpPr>
          <p:cNvPr id="9" name="Text 7"/>
          <p:cNvSpPr txBox="1"/>
          <p:nvPr/>
        </p:nvSpPr>
        <p:spPr>
          <a:xfrm>
            <a:off x="2606040" y="1417320"/>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Break Delays &amp; Confusion</a:t>
            </a:r>
            <a:endParaRPr lang="en-US" sz="1500" dirty="0"/>
          </a:p>
        </p:txBody>
      </p:sp>
      <p:sp>
        <p:nvSpPr>
          <p:cNvPr id="10" name="Text 8"/>
          <p:cNvSpPr txBox="1"/>
          <p:nvPr/>
        </p:nvSpPr>
        <p:spPr>
          <a:xfrm>
            <a:off x="4846320" y="1417320"/>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Recovers 15–20 minutes of productive shift time per agent daily.</a:t>
            </a:r>
            <a:endParaRPr lang="en-US" sz="1400" dirty="0"/>
          </a:p>
        </p:txBody>
      </p:sp>
      <p:sp>
        <p:nvSpPr>
          <p:cNvPr id="11" name="Impact row"/>
          <p:cNvSpPr/>
          <p:nvPr/>
        </p:nvSpPr>
        <p:spPr>
          <a:xfrm>
            <a:off x="548640" y="2304288"/>
            <a:ext cx="8046720" cy="777240"/>
          </a:xfrm>
          <a:prstGeom prst="roundRect">
            <a:avLst>
              <a:gd name="adj" fmla="val 14118"/>
            </a:avLst>
          </a:prstGeom>
          <a:solidFill>
            <a:schemeClr val="accent5"/>
          </a:solidFill>
          <a:ln/>
        </p:spPr>
      </p:sp>
      <p:sp>
        <p:nvSpPr>
          <p:cNvPr id="12" name="Accent bar"/>
          <p:cNvSpPr/>
          <p:nvPr/>
        </p:nvSpPr>
        <p:spPr>
          <a:xfrm>
            <a:off x="548640" y="2414016"/>
            <a:ext cx="64008" cy="557784"/>
          </a:xfrm>
          <a:prstGeom prst="rect">
            <a:avLst/>
          </a:prstGeom>
          <a:solidFill>
            <a:schemeClr val="accent2"/>
          </a:solidFill>
          <a:ln/>
        </p:spPr>
      </p:sp>
      <p:sp>
        <p:nvSpPr>
          <p:cNvPr id="13" name="Text 11"/>
          <p:cNvSpPr txBox="1"/>
          <p:nvPr/>
        </p:nvSpPr>
        <p:spPr>
          <a:xfrm>
            <a:off x="822960" y="2304288"/>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2</a:t>
            </a:r>
            <a:pPr indent="0" marL="0">
              <a:buNone/>
            </a:pPr>
            <a:r>
              <a:rPr lang="en-US" sz="1600" dirty="0">
                <a:solidFill>
                  <a:schemeClr val="accent2"/>
                </a:solidFill>
              </a:rPr>
              <a:t> hrs</a:t>
            </a:r>
            <a:endParaRPr lang="en-US" sz="1400" dirty="0"/>
          </a:p>
        </p:txBody>
      </p:sp>
      <p:sp>
        <p:nvSpPr>
          <p:cNvPr id="14" name="Text 12"/>
          <p:cNvSpPr txBox="1"/>
          <p:nvPr/>
        </p:nvSpPr>
        <p:spPr>
          <a:xfrm>
            <a:off x="2606040" y="2304288"/>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Manual Request Overload</a:t>
            </a:r>
            <a:endParaRPr lang="en-US" sz="1500" dirty="0"/>
          </a:p>
        </p:txBody>
      </p:sp>
      <p:sp>
        <p:nvSpPr>
          <p:cNvPr id="15" name="Text 13"/>
          <p:cNvSpPr txBox="1"/>
          <p:nvPr/>
        </p:nvSpPr>
        <p:spPr>
          <a:xfrm>
            <a:off x="4846320" y="2304288"/>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Automating routine approvals reclaims up to two hours of supervisory capacity per shift.</a:t>
            </a:r>
            <a:endParaRPr lang="en-US" sz="1400" dirty="0"/>
          </a:p>
        </p:txBody>
      </p:sp>
      <p:sp>
        <p:nvSpPr>
          <p:cNvPr id="16" name="Impact row"/>
          <p:cNvSpPr/>
          <p:nvPr/>
        </p:nvSpPr>
        <p:spPr>
          <a:xfrm>
            <a:off x="548640" y="3191256"/>
            <a:ext cx="8046720" cy="777240"/>
          </a:xfrm>
          <a:prstGeom prst="roundRect">
            <a:avLst>
              <a:gd name="adj" fmla="val 14118"/>
            </a:avLst>
          </a:prstGeom>
          <a:solidFill>
            <a:schemeClr val="accent5"/>
          </a:solidFill>
          <a:ln/>
        </p:spPr>
      </p:sp>
      <p:sp>
        <p:nvSpPr>
          <p:cNvPr id="17" name="Accent bar"/>
          <p:cNvSpPr/>
          <p:nvPr/>
        </p:nvSpPr>
        <p:spPr>
          <a:xfrm>
            <a:off x="548640" y="3300984"/>
            <a:ext cx="64008" cy="557784"/>
          </a:xfrm>
          <a:prstGeom prst="rect">
            <a:avLst/>
          </a:prstGeom>
          <a:solidFill>
            <a:schemeClr val="accent1"/>
          </a:solidFill>
          <a:ln/>
        </p:spPr>
      </p:sp>
      <p:sp>
        <p:nvSpPr>
          <p:cNvPr id="18" name="Text 16"/>
          <p:cNvSpPr txBox="1"/>
          <p:nvPr/>
        </p:nvSpPr>
        <p:spPr>
          <a:xfrm>
            <a:off x="822960" y="3191256"/>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100%</a:t>
            </a:r>
            <a:pPr indent="0" marL="0">
              <a:buNone/>
            </a:pPr>
            <a:endParaRPr lang="en-US" sz="1400" dirty="0"/>
          </a:p>
        </p:txBody>
      </p:sp>
      <p:sp>
        <p:nvSpPr>
          <p:cNvPr id="19" name="Text 17"/>
          <p:cNvSpPr txBox="1"/>
          <p:nvPr/>
        </p:nvSpPr>
        <p:spPr>
          <a:xfrm>
            <a:off x="2606040" y="3191256"/>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Visibility Gaps &amp; Staffing Variance</a:t>
            </a:r>
            <a:endParaRPr lang="en-US" sz="1500" dirty="0"/>
          </a:p>
        </p:txBody>
      </p:sp>
      <p:sp>
        <p:nvSpPr>
          <p:cNvPr id="20" name="Text 18"/>
          <p:cNvSpPr txBox="1"/>
          <p:nvPr/>
        </p:nvSpPr>
        <p:spPr>
          <a:xfrm>
            <a:off x="4846320" y="3191256"/>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Eliminates unplanned overtime costs through 100% real-time floor visibility.</a:t>
            </a:r>
            <a:endParaRPr lang="en-US" sz="1400" dirty="0"/>
          </a:p>
        </p:txBody>
      </p:sp>
      <p:sp>
        <p:nvSpPr>
          <p:cNvPr id="21" name="Impact row"/>
          <p:cNvSpPr/>
          <p:nvPr/>
        </p:nvSpPr>
        <p:spPr>
          <a:xfrm>
            <a:off x="548640" y="4078224"/>
            <a:ext cx="8046720" cy="777240"/>
          </a:xfrm>
          <a:prstGeom prst="roundRect">
            <a:avLst>
              <a:gd name="adj" fmla="val 14118"/>
            </a:avLst>
          </a:prstGeom>
          <a:solidFill>
            <a:schemeClr val="accent5"/>
          </a:solidFill>
          <a:ln/>
        </p:spPr>
      </p:sp>
      <p:sp>
        <p:nvSpPr>
          <p:cNvPr id="22" name="Accent bar"/>
          <p:cNvSpPr/>
          <p:nvPr/>
        </p:nvSpPr>
        <p:spPr>
          <a:xfrm>
            <a:off x="548640" y="4187952"/>
            <a:ext cx="64008" cy="557784"/>
          </a:xfrm>
          <a:prstGeom prst="rect">
            <a:avLst/>
          </a:prstGeom>
          <a:solidFill>
            <a:schemeClr val="accent2"/>
          </a:solidFill>
          <a:ln/>
        </p:spPr>
      </p:sp>
      <p:sp>
        <p:nvSpPr>
          <p:cNvPr id="23" name="Text 21"/>
          <p:cNvSpPr txBox="1"/>
          <p:nvPr/>
        </p:nvSpPr>
        <p:spPr>
          <a:xfrm>
            <a:off x="822960" y="4078224"/>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15–25%</a:t>
            </a:r>
            <a:pPr indent="0" marL="0">
              <a:buNone/>
            </a:pPr>
            <a:endParaRPr lang="en-US" sz="1400" dirty="0"/>
          </a:p>
        </p:txBody>
      </p:sp>
      <p:sp>
        <p:nvSpPr>
          <p:cNvPr id="24" name="Text 22"/>
          <p:cNvSpPr txBox="1"/>
          <p:nvPr/>
        </p:nvSpPr>
        <p:spPr>
          <a:xfrm>
            <a:off x="2606040" y="4078224"/>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Long Wait Times &amp; Staffing Deficits</a:t>
            </a:r>
            <a:endParaRPr lang="en-US" sz="1500" dirty="0"/>
          </a:p>
        </p:txBody>
      </p:sp>
      <p:sp>
        <p:nvSpPr>
          <p:cNvPr id="25" name="Text 23"/>
          <p:cNvSpPr txBox="1"/>
          <p:nvPr/>
        </p:nvSpPr>
        <p:spPr>
          <a:xfrm>
            <a:off x="4846320" y="4078224"/>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Reduces queue wait times (ASA) by 15–25% and curbs call abandonment during critical call volume peaks.</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8001000" y="365760"/>
            <a:ext cx="365760" cy="365760"/>
          </a:xfrm>
          <a:prstGeom prst="ellipse">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11312" y="365760"/>
            <a:ext cx="365760" cy="365760"/>
          </a:xfrm>
          <a:prstGeom prst="ellipse">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00040"/>
            <a:ext cx="6400800" cy="274320"/>
          </a:xfrm>
          <a:prstGeom prst="rect">
            <a:avLst/>
          </a:prstGeom>
          <a:noFill/>
        </p:spPr>
        <p:txBody>
          <a:bodyPr wrap="none" lIns="0" tIns="0" rIns="0" bIns="0">
            <a:spAutoFit/>
          </a:bodyPr>
          <a:lstStyle/>
          <a:p>
            <a:r>
              <a:rPr sz="1200" b="1">
                <a:solidFill>
                  <a:schemeClr val="tx1"/>
                </a:solidFill>
              </a:rPr>
              <a:t>04 · CONCLUSION</a:t>
            </a:r>
          </a:p>
        </p:txBody>
      </p:sp>
      <p:sp>
        <p:nvSpPr>
          <p:cNvPr id="5" name="Oval 4"/>
          <p:cNvSpPr/>
          <p:nvPr/>
        </p:nvSpPr>
        <p:spPr>
          <a:xfrm>
            <a:off x="548640" y="560000"/>
            <a:ext cx="680000" cy="680000"/>
          </a:xfrm>
          <a:prstGeom prst="ellipse">
            <a:avLst/>
          </a:prstGeom>
          <a:solidFill>
            <a:schemeClr val="bg1"/>
          </a:solidFill>
          <a:ln w="254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vicon.png"/>
          <p:cNvPicPr>
            <a:picLocks noChangeAspect="1"/>
          </p:cNvPicPr>
          <p:nvPr/>
        </p:nvPicPr>
        <p:blipFill>
          <a:blip r:embed="rId2"/>
          <a:stretch>
            <a:fillRect/>
          </a:stretch>
        </p:blipFill>
        <p:spPr>
          <a:xfrm>
            <a:off x="588640" y="600000"/>
            <a:ext cx="600000" cy="600000"/>
          </a:xfrm>
          <a:prstGeom prst="rect">
            <a:avLst/>
          </a:prstGeom>
        </p:spPr>
      </p:pic>
      <p:sp>
        <p:nvSpPr>
          <p:cNvPr id="7" name="TextBox 6"/>
          <p:cNvSpPr txBox="1"/>
          <p:nvPr/>
        </p:nvSpPr>
        <p:spPr>
          <a:xfrm>
            <a:off x="1340000" y="540000"/>
            <a:ext cx="6500000" cy="780000"/>
          </a:xfrm>
          <a:prstGeom prst="rect">
            <a:avLst/>
          </a:prstGeom>
          <a:noFill/>
        </p:spPr>
        <p:txBody>
          <a:bodyPr wrap="square" lIns="0" tIns="0" rIns="0" bIns="0">
            <a:spAutoFit/>
          </a:bodyPr>
          <a:lstStyle/>
          <a:p>
            <a:pPr>
              <a:defRPr sz="3200" b="1">
                <a:solidFill>
                  <a:schemeClr val="tx1"/>
                </a:solidFill>
              </a:defRPr>
            </a:pPr>
            <a:r>
              <a:t>Thank You</a:t>
            </a:r>
          </a:p>
          <a:p>
            <a:pPr>
              <a:spcBef>
                <a:spcPts val="300"/>
              </a:spcBef>
            </a:pPr>
            <a:r>
              <a:rPr b="1" sz="1350">
                <a:solidFill>
                  <a:schemeClr val="tx1"/>
                </a:solidFill>
              </a:rPr>
              <a:t>ZEL</a:t>
            </a:r>
            <a:r>
              <a:rPr sz="1350">
                <a:solidFill>
                  <a:schemeClr val="tx1"/>
                </a:solidFill>
              </a:rPr>
              <a:t> — </a:t>
            </a:r>
            <a:r>
              <a:rPr i="1" sz="1300">
                <a:solidFill>
                  <a:schemeClr val="tx1"/>
                </a:solidFill>
              </a:rPr>
              <a:t>"Zero wait to pause, Zero lag to serve"</a:t>
            </a:r>
          </a:p>
        </p:txBody>
      </p:sp>
      <p:sp>
        <p:nvSpPr>
          <p:cNvPr id="8" name="Rounded Rectangle 7"/>
          <p:cNvSpPr/>
          <p:nvPr/>
        </p:nvSpPr>
        <p:spPr>
          <a:xfrm>
            <a:off x="548640" y="1463040"/>
            <a:ext cx="8046720" cy="3200400"/>
          </a:xfrm>
          <a:prstGeom prst="roundRect">
            <a:avLst/>
          </a:prstGeom>
          <a:solidFill>
            <a:schemeClr val="bg1"/>
          </a:solidFill>
          <a:ln w="1905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91640"/>
            <a:ext cx="3840480" cy="2743200"/>
          </a:xfrm>
          <a:prstGeom prst="rect">
            <a:avLst/>
          </a:prstGeom>
          <a:noFill/>
        </p:spPr>
        <p:txBody>
          <a:bodyPr wrap="square">
            <a:spAutoFit/>
          </a:bodyPr>
          <a:lstStyle/>
          <a:p>
            <a:pPr>
              <a:defRPr sz="1600" b="1">
                <a:solidFill>
                  <a:schemeClr val="tx1"/>
                </a:solidFill>
              </a:defRPr>
            </a:pPr>
            <a:r>
              <a:t>Autonomous Floor Operations</a:t>
            </a:r>
          </a:p>
          <a:p>
            <a:pPr>
              <a:spcBef>
                <a:spcPts val="800"/>
              </a:spcBef>
              <a:defRPr sz="1100">
                <a:solidFill>
                  <a:schemeClr val="tx2"/>
                </a:solidFill>
              </a:defRPr>
            </a:pPr>
            <a:r>
              <a:t>ZEL transforms contact center break management from manual chat delays into instant, algorithmic workforce flow.</a:t>
            </a:r>
          </a:p>
          <a:p>
            <a:pPr>
              <a:spcBef>
                <a:spcPts val="600"/>
              </a:spcBef>
            </a:pPr>
            <a:r>
              <a:rPr b="1" sz="1050">
                <a:solidFill>
                  <a:schemeClr val="tx1"/>
                </a:solidFill>
              </a:rPr>
              <a:t>• Instant AUX Approvals: </a:t>
            </a:r>
            <a:r>
              <a:rPr sz="1050">
                <a:solidFill>
                  <a:schemeClr val="tx2"/>
                </a:solidFill>
              </a:rPr>
              <a:t>Sub-second Erlang-C staffing evaluation.</a:t>
            </a:r>
          </a:p>
          <a:p>
            <a:pPr>
              <a:spcBef>
                <a:spcPts val="600"/>
              </a:spcBef>
            </a:pPr>
            <a:r>
              <a:rPr b="1" sz="1050">
                <a:solidFill>
                  <a:schemeClr val="tx1"/>
                </a:solidFill>
              </a:rPr>
              <a:t>• Autonomous ACW: </a:t>
            </a:r>
            <a:r>
              <a:rPr sz="1050">
                <a:solidFill>
                  <a:schemeClr val="tx2"/>
                </a:solidFill>
              </a:rPr>
              <a:t>AI summary generation &amp; direct CRM sync.</a:t>
            </a:r>
          </a:p>
          <a:p>
            <a:pPr>
              <a:spcBef>
                <a:spcPts val="600"/>
              </a:spcBef>
            </a:pPr>
            <a:r>
              <a:rPr b="1" sz="1050">
                <a:solidFill>
                  <a:schemeClr val="tx1"/>
                </a:solidFill>
              </a:rPr>
              <a:t>• Dynamic Floor Flex: </a:t>
            </a:r>
            <a:r>
              <a:rPr sz="1050">
                <a:solidFill>
                  <a:schemeClr val="tx2"/>
                </a:solidFill>
              </a:rPr>
              <a:t>1-click intraday queue rebalancing.</a:t>
            </a:r>
          </a:p>
        </p:txBody>
      </p:sp>
      <p:sp>
        <p:nvSpPr>
          <p:cNvPr id="10" name="TextBox 9"/>
          <p:cNvSpPr txBox="1"/>
          <p:nvPr/>
        </p:nvSpPr>
        <p:spPr>
          <a:xfrm>
            <a:off x="4846320" y="1691640"/>
            <a:ext cx="3474720" cy="2743200"/>
          </a:xfrm>
          <a:prstGeom prst="rect">
            <a:avLst/>
          </a:prstGeom>
          <a:noFill/>
        </p:spPr>
        <p:txBody>
          <a:bodyPr wrap="square">
            <a:spAutoFit/>
          </a:bodyPr>
          <a:lstStyle/>
          <a:p>
            <a:pPr>
              <a:defRPr sz="1600" b="1">
                <a:solidFill>
                  <a:schemeClr val="tx1"/>
                </a:solidFill>
              </a:defRPr>
            </a:pPr>
            <a:r>
              <a:t>Business Outcomes Delivered</a:t>
            </a:r>
          </a:p>
          <a:p>
            <a:pPr>
              <a:spcBef>
                <a:spcPts val="500"/>
              </a:spcBef>
            </a:pPr>
            <a:r>
              <a:rPr b="1" sz="1050">
                <a:solidFill>
                  <a:schemeClr val="accent1"/>
                </a:solidFill>
              </a:rPr>
              <a:t>• 15–20 min: </a:t>
            </a:r>
            <a:r>
              <a:rPr sz="1050">
                <a:solidFill>
                  <a:schemeClr val="tx2"/>
                </a:solidFill>
              </a:rPr>
              <a:t>Productive shift time recovered per agent daily</a:t>
            </a:r>
          </a:p>
          <a:p>
            <a:pPr>
              <a:spcBef>
                <a:spcPts val="500"/>
              </a:spcBef>
            </a:pPr>
            <a:r>
              <a:rPr b="1" sz="1050">
                <a:solidFill>
                  <a:schemeClr val="accent1"/>
                </a:solidFill>
              </a:rPr>
              <a:t>• 2 hrs: </a:t>
            </a:r>
            <a:r>
              <a:rPr sz="1050">
                <a:solidFill>
                  <a:schemeClr val="tx2"/>
                </a:solidFill>
              </a:rPr>
              <a:t>Supervisor capacity reclaimed per shift</a:t>
            </a:r>
          </a:p>
          <a:p>
            <a:pPr>
              <a:spcBef>
                <a:spcPts val="500"/>
              </a:spcBef>
            </a:pPr>
            <a:r>
              <a:rPr b="1" sz="1050">
                <a:solidFill>
                  <a:schemeClr val="accent1"/>
                </a:solidFill>
              </a:rPr>
              <a:t>• 100%: </a:t>
            </a:r>
            <a:r>
              <a:rPr sz="1050">
                <a:solidFill>
                  <a:schemeClr val="tx2"/>
                </a:solidFill>
              </a:rPr>
              <a:t>Real-time floor visibility &amp; zero overtime costs</a:t>
            </a:r>
          </a:p>
          <a:p>
            <a:pPr>
              <a:spcBef>
                <a:spcPts val="500"/>
              </a:spcBef>
            </a:pPr>
            <a:r>
              <a:rPr b="1" sz="1050">
                <a:solidFill>
                  <a:schemeClr val="accent1"/>
                </a:solidFill>
              </a:rPr>
              <a:t>• 15–25%: </a:t>
            </a:r>
            <a:r>
              <a:rPr sz="1050">
                <a:solidFill>
                  <a:schemeClr val="tx2"/>
                </a:solidFill>
              </a:rPr>
              <a:t>Lower queue wait times during volume surges</a:t>
            </a:r>
          </a:p>
          <a:p>
            <a:pPr>
              <a:spcBef>
                <a:spcPts val="1400"/>
              </a:spcBef>
            </a:pPr>
            <a:r>
              <a:rPr b="1" sz="1400">
                <a:solidFill>
                  <a:schemeClr val="accent2"/>
                </a:solidFill>
              </a:rPr>
              <a:t>Questions &amp; Discussion</a:t>
            </a:r>
          </a:p>
        </p:txBody>
      </p:sp>
    </p:spTree>
  </p:cSld>
  <p:clrMapOvr>
    <a:masterClrMapping/>
  </p:clrMapOvr>
</p:sld>
</file>

<file path=ppt/theme/theme1.xml><?xml version="1.0" encoding="utf-8"?>
<a:theme xmlns:a="http://schemas.openxmlformats.org/drawingml/2006/main" name="AUX Break Management">
  <a:themeElements>
    <a:clrScheme name="AUX Break Management">
      <a:dk1>
        <a:srgbClr val="0B1B3A"/>
      </a:dk1>
      <a:lt1>
        <a:srgbClr val="FFFFFF"/>
      </a:lt1>
      <a:dk2>
        <a:srgbClr val="12264D"/>
      </a:dk2>
      <a:lt2>
        <a:srgbClr val="DCE8FF"/>
      </a:lt2>
      <a:accent1>
        <a:srgbClr val="22D3EE"/>
      </a:accent1>
      <a:accent2>
        <a:srgbClr val="F5A524"/>
      </a:accent2>
      <a:accent3>
        <a:srgbClr val="FF5A5F"/>
      </a:accent3>
      <a:accent4>
        <a:srgbClr val="4ADE80"/>
      </a:accent4>
      <a:accent5>
        <a:srgbClr val="17305F"/>
      </a:accent5>
      <a:accent6>
        <a:srgbClr val="9DB2DB"/>
      </a:accent6>
      <a:hlink>
        <a:srgbClr val="22D3EE"/>
      </a:hlink>
      <a:folHlink>
        <a:srgbClr val="9DB2DB"/>
      </a:folHlink>
    </a:clrScheme>
    <a:fontScheme name="AUX Break Managem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 Break Management</dc:title>
  <dc:subject>PptxGenJS Presentation</dc:subject>
  <dc:creator>PptxGenJS</dc:creator>
  <cp:lastModifiedBy>PptxGenJS</cp:lastModifiedBy>
  <cp:revision>1</cp:revision>
  <dcterms:created xsi:type="dcterms:W3CDTF">2026-10-23T15:11:17Z</dcterms:created>
  <dcterms:modified xsi:type="dcterms:W3CDTF">2026-10-23T15:11:17Z</dcterms:modified>
</cp:coreProperties>
</file>