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png"/>
          <p:cNvPicPr>
            <a:picLocks noChangeAspect="1"/>
          </p:cNvPicPr>
          <p:nvPr/>
        </p:nvPicPr>
        <p:blipFill>
          <a:blip r:embed="rId2"/>
          <a:stretch>
            <a:fillRect/>
          </a:stretch>
        </p:blipFill>
        <p:spPr>
          <a:xfrm>
            <a:off x="4723790" y="1645920"/>
            <a:ext cx="2743200" cy="2743200"/>
          </a:xfrm>
          <a:prstGeom prst="rect">
            <a:avLst/>
          </a:prstGeom>
        </p:spPr>
      </p:pic>
      <p:sp>
        <p:nvSpPr>
          <p:cNvPr id="5" name="TextBox 4"/>
          <p:cNvSpPr txBox="1"/>
          <p:nvPr/>
        </p:nvSpPr>
        <p:spPr>
          <a:xfrm>
            <a:off x="914400" y="4663440"/>
            <a:ext cx="10362895" cy="1463040"/>
          </a:xfrm>
          <a:prstGeom prst="rect">
            <a:avLst/>
          </a:prstGeom>
          <a:noFill/>
        </p:spPr>
        <p:txBody>
          <a:bodyPr wrap="square" lIns="0" tIns="0" rIns="0" bIns="0">
            <a:spAutoFit/>
          </a:bodyPr>
          <a:lstStyle/>
          <a:p>
            <a:pPr algn="ctr">
              <a:defRPr sz="3600" b="1">
                <a:solidFill>
                  <a:srgbClr val="0F172A"/>
                </a:solidFill>
                <a:latin typeface="Segoe UI"/>
              </a:defRPr>
            </a:pPr>
            <a:r>
              <a:t>ZEL - Call Center Assist</a:t>
            </a:r>
          </a:p>
          <a:p>
            <a:pPr algn="ctr">
              <a:defRPr sz="1800" b="1">
                <a:solidFill>
                  <a:srgbClr val="2563EB"/>
                </a:solidFill>
                <a:latin typeface="Segoe UI"/>
              </a:defRPr>
            </a:pPr>
            <a:r>
              <a:t>Zero wait to pause, Zero lag to serve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822960"/>
          </a:xfrm>
          <a:prstGeom prst="rect">
            <a:avLst/>
          </a:prstGeom>
          <a:noFill/>
        </p:spPr>
        <p:txBody>
          <a:bodyPr wrap="square" lIns="0" tIns="0" rIns="0" bIns="0">
            <a:spAutoFit/>
          </a:bodyPr>
          <a:lstStyle/>
          <a:p>
            <a:pPr>
              <a:defRPr sz="2200" b="1">
                <a:solidFill>
                  <a:srgbClr val="0F172A"/>
                </a:solidFill>
                <a:latin typeface="Segoe UI"/>
              </a:defRPr>
            </a:pPr>
            <a:r>
              <a:t>ZEL - Call Center Assist</a:t>
            </a:r>
          </a:p>
          <a:p>
            <a:pPr>
              <a:defRPr sz="1200" b="1">
                <a:solidFill>
                  <a:srgbClr val="2563EB"/>
                </a:solidFill>
                <a:latin typeface="Segoe UI"/>
              </a:defRPr>
            </a:pPr>
            <a:r>
              <a:t>Zero wait to pause, Zero lag to serve</a:t>
            </a:r>
          </a:p>
        </p:txBody>
      </p:sp>
      <p:sp>
        <p:nvSpPr>
          <p:cNvPr id="4" name="TextBox 3"/>
          <p:cNvSpPr txBox="1"/>
          <p:nvPr/>
        </p:nvSpPr>
        <p:spPr>
          <a:xfrm>
            <a:off x="10058400" y="6217920"/>
            <a:ext cx="1371600" cy="365760"/>
          </a:xfrm>
          <a:prstGeom prst="rect">
            <a:avLst/>
          </a:prstGeom>
          <a:noFill/>
        </p:spPr>
        <p:txBody>
          <a:bodyPr wrap="none" lIns="0" tIns="0" rIns="0" bIns="0">
            <a:spAutoFit/>
          </a:bodyPr>
          <a:lstStyle/>
          <a:p>
            <a:pPr algn="r">
              <a:defRPr sz="1200" b="1">
                <a:solidFill>
                  <a:srgbClr val="94A3B8"/>
                </a:solidFill>
                <a:latin typeface="Segoe UI"/>
              </a:defRPr>
            </a:pPr>
            <a:r>
              <a:t>01 / 04</a:t>
            </a:r>
          </a:p>
        </p:txBody>
      </p:sp>
      <p:sp>
        <p:nvSpPr>
          <p:cNvPr id="5" name="Rounded Rectangle 4"/>
          <p:cNvSpPr/>
          <p:nvPr/>
        </p:nvSpPr>
        <p:spPr>
          <a:xfrm>
            <a:off x="731520" y="1371600"/>
            <a:ext cx="512064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800"/>
              </a:spcAft>
              <a:defRPr sz="1100" b="1">
                <a:solidFill>
                  <a:srgbClr val="2563EB"/>
                </a:solidFill>
                <a:latin typeface="Segoe UI"/>
              </a:defRPr>
            </a:pPr>
            <a:r>
              <a:t>PROBLEM STATEMENT</a:t>
            </a:r>
          </a:p>
          <a:p>
            <a:pPr>
              <a:spcAft>
                <a:spcPts val="1400"/>
              </a:spcAft>
              <a:defRPr sz="1800" b="1">
                <a:solidFill>
                  <a:srgbClr val="0F172A"/>
                </a:solidFill>
                <a:latin typeface="Segoe UI"/>
              </a:defRPr>
            </a:pPr>
            <a:r>
              <a:t>Manual AUX Management</a:t>
            </a:r>
          </a:p>
          <a:p>
            <a:pPr>
              <a:lnSpc>
                <a:spcPct val="135000"/>
              </a:lnSpc>
              <a:defRPr sz="1300">
                <a:solidFill>
                  <a:srgbClr val="334155"/>
                </a:solidFill>
                <a:latin typeface="Segoe UI"/>
              </a:defRPr>
            </a:pPr>
            <a:r>
              <a:t>Manual AUX requests and approvals through emails and group chats cause delays and make it difficult to track agent availability. During storms or outages, supervisors must manually contact agents to arrange additional staffing, which slows down response times. Agents and supervisors also need quick access to information and guidance, but without an AI assistant like Ask Shankar, finding the right support can take extra time.</a:t>
            </a:r>
          </a:p>
        </p:txBody>
      </p:sp>
      <p:sp>
        <p:nvSpPr>
          <p:cNvPr id="6" name="Rounded Rectangle 5"/>
          <p:cNvSpPr/>
          <p:nvPr/>
        </p:nvSpPr>
        <p:spPr>
          <a:xfrm>
            <a:off x="6217920" y="1371600"/>
            <a:ext cx="521208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100" b="1">
                <a:solidFill>
                  <a:srgbClr val="2563EB"/>
                </a:solidFill>
                <a:latin typeface="Segoe UI"/>
              </a:defRPr>
            </a:pPr>
            <a:r>
              <a:t>IMPACTED USERS</a:t>
            </a:r>
          </a:p>
          <a:p>
            <a:pPr>
              <a:defRPr sz="1400" b="1">
                <a:solidFill>
                  <a:srgbClr val="0F172A"/>
                </a:solidFill>
                <a:latin typeface="Segoe UI"/>
              </a:defRPr>
            </a:pPr>
            <a:r>
              <a:t>01  Call Center agents</a:t>
            </a:r>
          </a:p>
          <a:p>
            <a:pPr>
              <a:spcAft>
                <a:spcPts val="1000"/>
              </a:spcAft>
              <a:defRPr sz="1200">
                <a:solidFill>
                  <a:srgbClr val="334155"/>
                </a:solidFill>
                <a:latin typeface="Segoe UI"/>
              </a:defRPr>
            </a:pPr>
            <a:r>
              <a:t>     Break requests and status clarity</a:t>
            </a:r>
          </a:p>
          <a:p>
            <a:pPr>
              <a:defRPr sz="1400" b="1">
                <a:solidFill>
                  <a:srgbClr val="0F172A"/>
                </a:solidFill>
                <a:latin typeface="Segoe UI"/>
              </a:defRPr>
            </a:pPr>
            <a:r>
              <a:t>02  Team Leaders &amp; Supervisors</a:t>
            </a:r>
          </a:p>
          <a:p>
            <a:pPr>
              <a:spcAft>
                <a:spcPts val="1000"/>
              </a:spcAft>
              <a:defRPr sz="1200">
                <a:solidFill>
                  <a:srgbClr val="334155"/>
                </a:solidFill>
                <a:latin typeface="Segoe UI"/>
              </a:defRPr>
            </a:pPr>
            <a:r>
              <a:t>     Approvals and staffing coordination</a:t>
            </a:r>
          </a:p>
          <a:p>
            <a:pPr>
              <a:defRPr sz="1400" b="1">
                <a:solidFill>
                  <a:srgbClr val="0F172A"/>
                </a:solidFill>
                <a:latin typeface="Segoe UI"/>
              </a:defRPr>
            </a:pPr>
            <a:r>
              <a:t>03  Customers</a:t>
            </a:r>
          </a:p>
          <a:p>
            <a:pPr>
              <a:spcAft>
                <a:spcPts val="1000"/>
              </a:spcAft>
              <a:defRPr sz="1200">
                <a:solidFill>
                  <a:srgbClr val="334155"/>
                </a:solidFill>
                <a:latin typeface="Segoe UI"/>
              </a:defRPr>
            </a:pPr>
            <a:r>
              <a:t>     Wait times and service continuity</a:t>
            </a:r>
          </a:p>
          <a:p>
            <a:pPr>
              <a:defRPr sz="1200" b="1">
                <a:solidFill>
                  <a:srgbClr val="DC2626"/>
                </a:solidFill>
                <a:latin typeface="Segoe UI"/>
              </a:defRPr>
            </a:pPr>
            <a:r>
              <a:t>Impact: Slower coordination, reduced visibility, and increased manual effort.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822960"/>
          </a:xfrm>
          <a:prstGeom prst="rect">
            <a:avLst/>
          </a:prstGeom>
          <a:noFill/>
        </p:spPr>
        <p:txBody>
          <a:bodyPr wrap="square" lIns="0" tIns="0" rIns="0" bIns="0">
            <a:spAutoFit/>
          </a:bodyPr>
          <a:lstStyle/>
          <a:p>
            <a:pPr>
              <a:defRPr sz="2200" b="1">
                <a:solidFill>
                  <a:srgbClr val="0F172A"/>
                </a:solidFill>
                <a:latin typeface="Segoe UI"/>
              </a:defRPr>
            </a:pPr>
            <a:r>
              <a:t>Proposed Solution 📊</a:t>
            </a:r>
          </a:p>
          <a:p>
            <a:pPr>
              <a:defRPr sz="1200" b="1">
                <a:solidFill>
                  <a:srgbClr val="2563EB"/>
                </a:solidFill>
                <a:latin typeface="Segoe UI"/>
              </a:defRPr>
            </a:pPr>
            <a:r>
              <a:t>Core Pillars of Automated AUX Governance &amp; Agent Assistance</a:t>
            </a:r>
          </a:p>
        </p:txBody>
      </p:sp>
      <p:sp>
        <p:nvSpPr>
          <p:cNvPr id="4" name="TextBox 3"/>
          <p:cNvSpPr txBox="1"/>
          <p:nvPr/>
        </p:nvSpPr>
        <p:spPr>
          <a:xfrm>
            <a:off x="10058400" y="6217920"/>
            <a:ext cx="1371600" cy="365760"/>
          </a:xfrm>
          <a:prstGeom prst="rect">
            <a:avLst/>
          </a:prstGeom>
          <a:noFill/>
        </p:spPr>
        <p:txBody>
          <a:bodyPr wrap="none" lIns="0" tIns="0" rIns="0" bIns="0">
            <a:spAutoFit/>
          </a:bodyPr>
          <a:lstStyle/>
          <a:p>
            <a:pPr algn="r">
              <a:defRPr sz="1200" b="1">
                <a:solidFill>
                  <a:srgbClr val="94A3B8"/>
                </a:solidFill>
                <a:latin typeface="Segoe UI"/>
              </a:defRPr>
            </a:pPr>
            <a:r>
              <a:t>02 / 04</a:t>
            </a:r>
          </a:p>
        </p:txBody>
      </p:sp>
      <p:sp>
        <p:nvSpPr>
          <p:cNvPr id="5" name="Rounded Rectangle 4"/>
          <p:cNvSpPr/>
          <p:nvPr/>
        </p:nvSpPr>
        <p:spPr>
          <a:xfrm>
            <a:off x="731520" y="1371600"/>
            <a:ext cx="5212080" cy="210312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bIns="274320"/>
          <a:lstStyle/>
          <a:p>
            <a:pPr algn="ctr">
              <a:spcAft>
                <a:spcPts val="800"/>
              </a:spcAft>
              <a:defRPr sz="1600" b="1">
                <a:solidFill>
                  <a:srgbClr val="0F172A"/>
                </a:solidFill>
                <a:latin typeface="Segoe UI"/>
              </a:defRPr>
            </a:pPr>
            <a:r>
              <a:t>📊 AUX Management Portal</a:t>
            </a:r>
          </a:p>
          <a:p>
            <a:pPr>
              <a:lnSpc>
                <a:spcPct val="130000"/>
              </a:lnSpc>
              <a:defRPr sz="1300">
                <a:solidFill>
                  <a:srgbClr val="334155"/>
                </a:solidFill>
                <a:latin typeface="Segoe UI"/>
              </a:defRPr>
            </a:pPr>
            <a:r>
              <a:t>Auto approvals of centralized break requests and alert notifications.</a:t>
            </a:r>
          </a:p>
        </p:txBody>
      </p:sp>
      <p:sp>
        <p:nvSpPr>
          <p:cNvPr id="6" name="Rounded Rectangle 5"/>
          <p:cNvSpPr/>
          <p:nvPr/>
        </p:nvSpPr>
        <p:spPr>
          <a:xfrm>
            <a:off x="6217920" y="1371600"/>
            <a:ext cx="5212080" cy="210312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bIns="274320"/>
          <a:lstStyle/>
          <a:p>
            <a:pPr algn="ctr">
              <a:spcAft>
                <a:spcPts val="800"/>
              </a:spcAft>
              <a:defRPr sz="1600" b="1">
                <a:solidFill>
                  <a:srgbClr val="0F172A"/>
                </a:solidFill>
                <a:latin typeface="Segoe UI"/>
              </a:defRPr>
            </a:pPr>
            <a:r>
              <a:t>🔔 Automated Staffing Alerts</a:t>
            </a:r>
          </a:p>
          <a:p>
            <a:pPr>
              <a:lnSpc>
                <a:spcPct val="130000"/>
              </a:lnSpc>
              <a:defRPr sz="1300">
                <a:solidFill>
                  <a:srgbClr val="334155"/>
                </a:solidFill>
                <a:latin typeface="Segoe UI"/>
              </a:defRPr>
            </a:pPr>
            <a:r>
              <a:t>Proactive availability alerts for unavailable agents during storms and outages.</a:t>
            </a:r>
          </a:p>
        </p:txBody>
      </p:sp>
      <p:sp>
        <p:nvSpPr>
          <p:cNvPr id="7" name="Rounded Rectangle 6"/>
          <p:cNvSpPr/>
          <p:nvPr/>
        </p:nvSpPr>
        <p:spPr>
          <a:xfrm>
            <a:off x="731520" y="3749039"/>
            <a:ext cx="5212080" cy="210312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bIns="274320"/>
          <a:lstStyle/>
          <a:p>
            <a:pPr algn="ctr">
              <a:spcAft>
                <a:spcPts val="800"/>
              </a:spcAft>
              <a:defRPr sz="1600" b="1">
                <a:solidFill>
                  <a:srgbClr val="0F172A"/>
                </a:solidFill>
                <a:latin typeface="Segoe UI"/>
              </a:defRPr>
            </a:pPr>
            <a:r>
              <a:t>📢 Operational Advisories</a:t>
            </a:r>
          </a:p>
          <a:p>
            <a:pPr>
              <a:lnSpc>
                <a:spcPct val="130000"/>
              </a:lnSpc>
              <a:defRPr sz="1300">
                <a:solidFill>
                  <a:srgbClr val="334155"/>
                </a:solidFill>
                <a:latin typeface="Segoe UI"/>
              </a:defRPr>
            </a:pPr>
            <a:r>
              <a:t>Timely communication of critical operational updates and advisories.</a:t>
            </a:r>
          </a:p>
        </p:txBody>
      </p:sp>
      <p:sp>
        <p:nvSpPr>
          <p:cNvPr id="8" name="Rounded Rectangle 7"/>
          <p:cNvSpPr/>
          <p:nvPr/>
        </p:nvSpPr>
        <p:spPr>
          <a:xfrm>
            <a:off x="6217920" y="3749039"/>
            <a:ext cx="5212080" cy="210312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bIns="274320"/>
          <a:lstStyle/>
          <a:p>
            <a:pPr algn="ctr">
              <a:spcAft>
                <a:spcPts val="800"/>
              </a:spcAft>
              <a:defRPr sz="1600" b="1">
                <a:solidFill>
                  <a:srgbClr val="0F172A"/>
                </a:solidFill>
                <a:latin typeface="Segoe UI"/>
              </a:defRPr>
            </a:pPr>
            <a:r>
              <a:t>🧠 Ask Shankar &amp; AI Coaching</a:t>
            </a:r>
          </a:p>
          <a:p>
            <a:pPr>
              <a:lnSpc>
                <a:spcPct val="130000"/>
              </a:lnSpc>
              <a:defRPr sz="1300">
                <a:solidFill>
                  <a:srgbClr val="334155"/>
                </a:solidFill>
                <a:latin typeface="Segoe UI"/>
              </a:defRPr>
            </a:pPr>
            <a:r>
              <a:t>Ask Shankar provides quick AI-powered answers and guidance; speech-tone analysis supports targeted coaching and service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822960"/>
          </a:xfrm>
          <a:prstGeom prst="rect">
            <a:avLst/>
          </a:prstGeom>
          <a:noFill/>
        </p:spPr>
        <p:txBody>
          <a:bodyPr wrap="square" lIns="0" tIns="0" rIns="0" bIns="0">
            <a:spAutoFit/>
          </a:bodyPr>
          <a:lstStyle/>
          <a:p>
            <a:pPr>
              <a:defRPr sz="2200" b="1">
                <a:solidFill>
                  <a:srgbClr val="0F172A"/>
                </a:solidFill>
                <a:latin typeface="Segoe UI"/>
              </a:defRPr>
            </a:pPr>
            <a:r>
              <a:t>Benefits Across the Contact Center</a:t>
            </a:r>
          </a:p>
          <a:p>
            <a:pPr>
              <a:defRPr sz="1200" b="1">
                <a:solidFill>
                  <a:srgbClr val="2563EB"/>
                </a:solidFill>
                <a:latin typeface="Segoe UI"/>
              </a:defRPr>
            </a:pPr>
            <a:r>
              <a:t>Measurable Stakeholder Value &amp; Operations Impact</a:t>
            </a:r>
          </a:p>
        </p:txBody>
      </p:sp>
      <p:sp>
        <p:nvSpPr>
          <p:cNvPr id="4" name="TextBox 3"/>
          <p:cNvSpPr txBox="1"/>
          <p:nvPr/>
        </p:nvSpPr>
        <p:spPr>
          <a:xfrm>
            <a:off x="10058400" y="6217920"/>
            <a:ext cx="1371600" cy="365760"/>
          </a:xfrm>
          <a:prstGeom prst="rect">
            <a:avLst/>
          </a:prstGeom>
          <a:noFill/>
        </p:spPr>
        <p:txBody>
          <a:bodyPr wrap="none" lIns="0" tIns="0" rIns="0" bIns="0">
            <a:spAutoFit/>
          </a:bodyPr>
          <a:lstStyle/>
          <a:p>
            <a:pPr algn="r">
              <a:defRPr sz="1200" b="1">
                <a:solidFill>
                  <a:srgbClr val="94A3B8"/>
                </a:solidFill>
                <a:latin typeface="Segoe UI"/>
              </a:defRPr>
            </a:pPr>
            <a:r>
              <a:t>03 / 04</a:t>
            </a:r>
          </a:p>
        </p:txBody>
      </p:sp>
      <p:sp>
        <p:nvSpPr>
          <p:cNvPr id="5" name="Rounded Rectangle 4"/>
          <p:cNvSpPr/>
          <p:nvPr/>
        </p:nvSpPr>
        <p:spPr>
          <a:xfrm>
            <a:off x="731520" y="1371600"/>
            <a:ext cx="338328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bIns="320040"/>
          <a:lstStyle/>
          <a:p>
            <a:pPr algn="ctr">
              <a:spcAft>
                <a:spcPts val="1400"/>
              </a:spcAft>
              <a:defRPr sz="1800" b="1">
                <a:solidFill>
                  <a:srgbClr val="0F172A"/>
                </a:solidFill>
                <a:latin typeface="Segoe UI"/>
              </a:defRPr>
            </a:pPr>
            <a:r>
              <a:t>🎧 Agents</a:t>
            </a:r>
          </a:p>
          <a:p>
            <a:pPr>
              <a:lnSpc>
                <a:spcPct val="130000"/>
              </a:lnSpc>
              <a:spcAft>
                <a:spcPts val="1000"/>
              </a:spcAft>
              <a:defRPr sz="1300">
                <a:solidFill>
                  <a:srgbClr val="334155"/>
                </a:solidFill>
                <a:latin typeface="Segoe UI"/>
              </a:defRPr>
            </a:pPr>
            <a:r>
              <a:t>• Improved break adherence.</a:t>
            </a:r>
          </a:p>
          <a:p>
            <a:pPr>
              <a:lnSpc>
                <a:spcPct val="130000"/>
              </a:lnSpc>
              <a:spcAft>
                <a:spcPts val="1000"/>
              </a:spcAft>
              <a:defRPr sz="1300">
                <a:solidFill>
                  <a:srgbClr val="334155"/>
                </a:solidFill>
                <a:latin typeface="Segoe UI"/>
              </a:defRPr>
            </a:pPr>
            <a:r>
              <a:t>• Lower average handling time (AHT).</a:t>
            </a:r>
          </a:p>
          <a:p>
            <a:pPr>
              <a:lnSpc>
                <a:spcPct val="130000"/>
              </a:lnSpc>
              <a:spcAft>
                <a:spcPts val="1000"/>
              </a:spcAft>
              <a:defRPr sz="1300">
                <a:solidFill>
                  <a:srgbClr val="334155"/>
                </a:solidFill>
                <a:latin typeface="Segoe UI"/>
              </a:defRPr>
            </a:pPr>
            <a:r>
              <a:t>• Self-troubleshooting via Ask Shankar.</a:t>
            </a:r>
          </a:p>
        </p:txBody>
      </p:sp>
      <p:sp>
        <p:nvSpPr>
          <p:cNvPr id="6" name="Rounded Rectangle 5"/>
          <p:cNvSpPr/>
          <p:nvPr/>
        </p:nvSpPr>
        <p:spPr>
          <a:xfrm>
            <a:off x="4389120" y="1371600"/>
            <a:ext cx="338328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bIns="320040"/>
          <a:lstStyle/>
          <a:p>
            <a:pPr algn="ctr">
              <a:spcAft>
                <a:spcPts val="1400"/>
              </a:spcAft>
              <a:defRPr sz="1800" b="1">
                <a:solidFill>
                  <a:srgbClr val="0F172A"/>
                </a:solidFill>
                <a:latin typeface="Segoe UI"/>
              </a:defRPr>
            </a:pPr>
            <a:r>
              <a:t>👥 Supervisors</a:t>
            </a:r>
          </a:p>
          <a:p>
            <a:pPr>
              <a:lnSpc>
                <a:spcPct val="130000"/>
              </a:lnSpc>
              <a:spcAft>
                <a:spcPts val="1000"/>
              </a:spcAft>
              <a:defRPr sz="1300">
                <a:solidFill>
                  <a:srgbClr val="334155"/>
                </a:solidFill>
                <a:latin typeface="Segoe UI"/>
              </a:defRPr>
            </a:pPr>
            <a:r>
              <a:t>• Reduced administrative workload.</a:t>
            </a:r>
          </a:p>
          <a:p>
            <a:pPr>
              <a:lnSpc>
                <a:spcPct val="130000"/>
              </a:lnSpc>
              <a:spcAft>
                <a:spcPts val="1000"/>
              </a:spcAft>
              <a:defRPr sz="1300">
                <a:solidFill>
                  <a:srgbClr val="334155"/>
                </a:solidFill>
                <a:latin typeface="Segoe UI"/>
              </a:defRPr>
            </a:pPr>
            <a:r>
              <a:t>• Faster staffing coordination.</a:t>
            </a:r>
          </a:p>
          <a:p>
            <a:pPr>
              <a:lnSpc>
                <a:spcPct val="130000"/>
              </a:lnSpc>
              <a:spcAft>
                <a:spcPts val="1000"/>
              </a:spcAft>
              <a:defRPr sz="1300">
                <a:solidFill>
                  <a:srgbClr val="334155"/>
                </a:solidFill>
                <a:latin typeface="Segoe UI"/>
              </a:defRPr>
            </a:pPr>
            <a:r>
              <a:t>• Proactive performance management.</a:t>
            </a:r>
          </a:p>
        </p:txBody>
      </p:sp>
      <p:sp>
        <p:nvSpPr>
          <p:cNvPr id="7" name="Rounded Rectangle 6"/>
          <p:cNvSpPr/>
          <p:nvPr/>
        </p:nvSpPr>
        <p:spPr>
          <a:xfrm>
            <a:off x="8046720" y="1371600"/>
            <a:ext cx="338328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bIns="320040"/>
          <a:lstStyle/>
          <a:p>
            <a:pPr algn="ctr">
              <a:spcAft>
                <a:spcPts val="1400"/>
              </a:spcAft>
              <a:defRPr sz="1800" b="1">
                <a:solidFill>
                  <a:srgbClr val="0F172A"/>
                </a:solidFill>
                <a:latin typeface="Segoe UI"/>
              </a:defRPr>
            </a:pPr>
            <a:r>
              <a:t>😊 Customers</a:t>
            </a:r>
          </a:p>
          <a:p>
            <a:pPr>
              <a:lnSpc>
                <a:spcPct val="130000"/>
              </a:lnSpc>
              <a:spcAft>
                <a:spcPts val="1000"/>
              </a:spcAft>
              <a:defRPr sz="1300">
                <a:solidFill>
                  <a:srgbClr val="334155"/>
                </a:solidFill>
                <a:latin typeface="Segoe UI"/>
              </a:defRPr>
            </a:pPr>
            <a:r>
              <a:t>• Shorter wait times.</a:t>
            </a:r>
          </a:p>
          <a:p>
            <a:pPr>
              <a:lnSpc>
                <a:spcPct val="130000"/>
              </a:lnSpc>
              <a:spcAft>
                <a:spcPts val="1000"/>
              </a:spcAft>
              <a:defRPr sz="1300">
                <a:solidFill>
                  <a:srgbClr val="334155"/>
                </a:solidFill>
                <a:latin typeface="Segoe UI"/>
              </a:defRPr>
            </a:pPr>
            <a:r>
              <a:t>• Stronger service continuity during outages.</a:t>
            </a:r>
          </a:p>
          <a:p>
            <a:pPr>
              <a:lnSpc>
                <a:spcPct val="130000"/>
              </a:lnSpc>
              <a:spcAft>
                <a:spcPts val="1000"/>
              </a:spcAft>
              <a:defRPr sz="1300">
                <a:solidFill>
                  <a:srgbClr val="334155"/>
                </a:solidFill>
                <a:latin typeface="Segoe UI"/>
              </a:defRPr>
            </a:pPr>
            <a:r>
              <a:t>• Improved interaction quality.</a:t>
            </a:r>
          </a:p>
          <a:p>
            <a:pPr>
              <a:lnSpc>
                <a:spcPct val="130000"/>
              </a:lnSpc>
              <a:spcAft>
                <a:spcPts val="1000"/>
              </a:spcAft>
              <a:defRPr sz="1300">
                <a:solidFill>
                  <a:srgbClr val="334155"/>
                </a:solidFill>
                <a:latin typeface="Segoe UI"/>
              </a:defRPr>
            </a:pPr>
            <a:r>
              <a:t>• Higher satisfaction.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822960"/>
          </a:xfrm>
          <a:prstGeom prst="rect">
            <a:avLst/>
          </a:prstGeom>
          <a:noFill/>
        </p:spPr>
        <p:txBody>
          <a:bodyPr wrap="square" lIns="0" tIns="0" rIns="0" bIns="0">
            <a:spAutoFit/>
          </a:bodyPr>
          <a:lstStyle/>
          <a:p>
            <a:pPr>
              <a:defRPr sz="2200" b="1">
                <a:solidFill>
                  <a:srgbClr val="0F172A"/>
                </a:solidFill>
                <a:latin typeface="Segoe UI"/>
              </a:defRPr>
            </a:pPr>
            <a:r>
              <a:t>📈 Business</a:t>
            </a:r>
          </a:p>
          <a:p>
            <a:pPr>
              <a:defRPr sz="1200" b="1">
                <a:solidFill>
                  <a:srgbClr val="2563EB"/>
                </a:solidFill>
                <a:latin typeface="Segoe UI"/>
              </a:defRPr>
            </a:pPr>
            <a:r>
              <a:t>Strategic ROI &amp; Operational Excellence</a:t>
            </a:r>
          </a:p>
        </p:txBody>
      </p:sp>
      <p:sp>
        <p:nvSpPr>
          <p:cNvPr id="4" name="TextBox 3"/>
          <p:cNvSpPr txBox="1"/>
          <p:nvPr/>
        </p:nvSpPr>
        <p:spPr>
          <a:xfrm>
            <a:off x="10058400" y="6217920"/>
            <a:ext cx="1371600" cy="365760"/>
          </a:xfrm>
          <a:prstGeom prst="rect">
            <a:avLst/>
          </a:prstGeom>
          <a:noFill/>
        </p:spPr>
        <p:txBody>
          <a:bodyPr wrap="none" lIns="0" tIns="0" rIns="0" bIns="0">
            <a:spAutoFit/>
          </a:bodyPr>
          <a:lstStyle/>
          <a:p>
            <a:pPr algn="r">
              <a:defRPr sz="1200" b="1">
                <a:solidFill>
                  <a:srgbClr val="94A3B8"/>
                </a:solidFill>
                <a:latin typeface="Segoe UI"/>
              </a:defRPr>
            </a:pPr>
            <a:r>
              <a:t>04 / 04</a:t>
            </a:r>
          </a:p>
        </p:txBody>
      </p:sp>
      <p:sp>
        <p:nvSpPr>
          <p:cNvPr id="5" name="Rounded Rectangle 4"/>
          <p:cNvSpPr/>
          <p:nvPr/>
        </p:nvSpPr>
        <p:spPr>
          <a:xfrm>
            <a:off x="731520" y="1371600"/>
            <a:ext cx="6217920" cy="4572000"/>
          </a:xfrm>
          <a:prstGeom prst="roundRect">
            <a:avLst/>
          </a:prstGeom>
          <a:solidFill>
            <a:srgbClr val="FFFF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bIns="320040"/>
          <a:lstStyle/>
          <a:p>
            <a:pPr algn="ctr">
              <a:spcAft>
                <a:spcPts val="1400"/>
              </a:spcAft>
              <a:defRPr sz="1800" b="1">
                <a:solidFill>
                  <a:srgbClr val="0F172A"/>
                </a:solidFill>
                <a:latin typeface="Segoe UI"/>
              </a:defRPr>
            </a:pPr>
            <a:r>
              <a:t>Business Value &amp; ROI Outcomes</a:t>
            </a:r>
          </a:p>
          <a:p>
            <a:pPr>
              <a:lnSpc>
                <a:spcPct val="130000"/>
              </a:lnSpc>
              <a:spcAft>
                <a:spcPts val="800"/>
              </a:spcAft>
              <a:defRPr sz="1300">
                <a:solidFill>
                  <a:srgbClr val="334155"/>
                </a:solidFill>
                <a:latin typeface="Segoe UI"/>
              </a:defRPr>
            </a:pPr>
            <a:r>
              <a:t>• Lower overtime and staffing costs.</a:t>
            </a:r>
          </a:p>
          <a:p>
            <a:pPr>
              <a:lnSpc>
                <a:spcPct val="130000"/>
              </a:lnSpc>
              <a:spcAft>
                <a:spcPts val="800"/>
              </a:spcAft>
              <a:defRPr sz="1300">
                <a:solidFill>
                  <a:srgbClr val="334155"/>
                </a:solidFill>
                <a:latin typeface="Segoe UI"/>
              </a:defRPr>
            </a:pPr>
            <a:r>
              <a:t>• Reduced call backlog during peak hours.</a:t>
            </a:r>
          </a:p>
          <a:p>
            <a:pPr>
              <a:lnSpc>
                <a:spcPct val="130000"/>
              </a:lnSpc>
              <a:spcAft>
                <a:spcPts val="800"/>
              </a:spcAft>
              <a:defRPr sz="1300">
                <a:solidFill>
                  <a:srgbClr val="334155"/>
                </a:solidFill>
                <a:latin typeface="Segoe UI"/>
              </a:defRPr>
            </a:pPr>
            <a:r>
              <a:t>• Reduced supervisor workload.</a:t>
            </a:r>
          </a:p>
          <a:p>
            <a:pPr>
              <a:lnSpc>
                <a:spcPct val="130000"/>
              </a:lnSpc>
              <a:spcAft>
                <a:spcPts val="800"/>
              </a:spcAft>
              <a:defRPr sz="1300">
                <a:solidFill>
                  <a:srgbClr val="334155"/>
                </a:solidFill>
                <a:latin typeface="Segoe UI"/>
              </a:defRPr>
            </a:pPr>
            <a:r>
              <a:t>• Improved SLA and faster response times.</a:t>
            </a:r>
          </a:p>
          <a:p>
            <a:pPr>
              <a:lnSpc>
                <a:spcPct val="130000"/>
              </a:lnSpc>
              <a:spcAft>
                <a:spcPts val="800"/>
              </a:spcAft>
              <a:defRPr sz="1300">
                <a:solidFill>
                  <a:srgbClr val="334155"/>
                </a:solidFill>
                <a:latin typeface="Segoe UI"/>
              </a:defRPr>
            </a:pPr>
            <a:r>
              <a:t>• Better agent availability and utilization.</a:t>
            </a:r>
          </a:p>
          <a:p>
            <a:pPr>
              <a:lnSpc>
                <a:spcPct val="130000"/>
              </a:lnSpc>
              <a:spcAft>
                <a:spcPts val="800"/>
              </a:spcAft>
              <a:defRPr sz="1300">
                <a:solidFill>
                  <a:srgbClr val="334155"/>
                </a:solidFill>
                <a:latin typeface="Segoe UI"/>
              </a:defRPr>
            </a:pPr>
            <a:r>
              <a:t>• More consistent customer service.</a:t>
            </a:r>
          </a:p>
          <a:p>
            <a:pPr>
              <a:lnSpc>
                <a:spcPct val="130000"/>
              </a:lnSpc>
              <a:spcAft>
                <a:spcPts val="800"/>
              </a:spcAft>
              <a:defRPr sz="1300">
                <a:solidFill>
                  <a:srgbClr val="334155"/>
                </a:solidFill>
                <a:latin typeface="Segoe UI"/>
              </a:defRPr>
            </a:pPr>
            <a:r>
              <a:t>• Improved customer satisfaction (CSAT).</a:t>
            </a:r>
          </a:p>
        </p:txBody>
      </p:sp>
      <p:sp>
        <p:nvSpPr>
          <p:cNvPr id="6" name="Rounded Rectangle 5"/>
          <p:cNvSpPr/>
          <p:nvPr/>
        </p:nvSpPr>
        <p:spPr>
          <a:xfrm>
            <a:off x="7315200" y="1371600"/>
            <a:ext cx="4114800" cy="4572000"/>
          </a:xfrm>
          <a:prstGeom prst="roundRect">
            <a:avLst/>
          </a:prstGeom>
          <a:solidFill>
            <a:srgbClr val="EFF6FF"/>
          </a:solidFill>
          <a:ln w="1905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ng"/>
          <p:cNvPicPr>
            <a:picLocks noChangeAspect="1"/>
          </p:cNvPicPr>
          <p:nvPr/>
        </p:nvPicPr>
        <p:blipFill>
          <a:blip r:embed="rId2"/>
          <a:stretch>
            <a:fillRect/>
          </a:stretch>
        </p:blipFill>
        <p:spPr>
          <a:xfrm>
            <a:off x="8458200" y="2011680"/>
            <a:ext cx="1828800" cy="1828800"/>
          </a:xfrm>
          <a:prstGeom prst="rect">
            <a:avLst/>
          </a:prstGeom>
        </p:spPr>
      </p:pic>
      <p:sp>
        <p:nvSpPr>
          <p:cNvPr id="8" name="TextBox 7"/>
          <p:cNvSpPr txBox="1"/>
          <p:nvPr/>
        </p:nvSpPr>
        <p:spPr>
          <a:xfrm>
            <a:off x="7498079" y="4114800"/>
            <a:ext cx="3749039" cy="1645920"/>
          </a:xfrm>
          <a:prstGeom prst="rect">
            <a:avLst/>
          </a:prstGeom>
          <a:noFill/>
        </p:spPr>
        <p:txBody>
          <a:bodyPr wrap="square" lIns="0" tIns="0" rIns="0" bIns="0">
            <a:spAutoFit/>
          </a:bodyPr>
          <a:lstStyle/>
          <a:p>
            <a:pPr algn="ctr">
              <a:defRPr sz="3200" b="1">
                <a:solidFill>
                  <a:srgbClr val="0F172A"/>
                </a:solidFill>
                <a:latin typeface="Segoe UI"/>
              </a:defRPr>
            </a:pPr>
            <a:r>
              <a:t>Thank you</a:t>
            </a:r>
          </a:p>
          <a:p>
            <a:pPr algn="ctr">
              <a:defRPr sz="1300" b="1">
                <a:solidFill>
                  <a:srgbClr val="2563EB"/>
                </a:solidFill>
                <a:latin typeface="Segoe UI"/>
              </a:defRPr>
            </a:pPr>
            <a:r>
              <a:t>ZEL - Call Center Assist</a:t>
            </a:r>
            <a:br/>
            <a:r>
              <a:t>Zero wait to pause, Zero lag to serve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