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TALK TRACK (0:00 - 0:35):</a:t>
            </a:r>
          </a:p>
          <a:p>
            <a:r>
              <a:t>Contact centers today still rely on manual AUX break requests and approvals through emails and group chats. This legacy approach causes severe communication delays, zero real-time request visibility, inconsistent tracking, and major breakdowns in agent adherence and floor availability. Four critical stakeholder groups are directly impacted: Frontline Agents, Team Leads, WFM Operations, and ultimately End Customers.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TALK TRACK (0:35 - 1:15):</a:t>
            </a:r>
          </a:p>
          <a:p>
            <a:r>
              <a:t>Here are the specific pain points we uncover on the floor:</a:t>
            </a:r>
          </a:p>
          <a:p>
            <a:r>
              <a:t>• Agents experience delayed break approvals, unclear request status, and friction communicating requests.</a:t>
            </a:r>
          </a:p>
          <a:p>
            <a:r>
              <a:t>• Team Leaders are bogged down by high volumes of manual requests, constant follow-ups, and cumbersome tracking.</a:t>
            </a:r>
          </a:p>
          <a:p>
            <a:r>
              <a:t>• WFM Management lacks real-time visibility into agent AUX statuses, break schedules, and true staffing availability.</a:t>
            </a:r>
          </a:p>
          <a:p>
            <a:r>
              <a:t>• End Customers suffer the downstream consequences: longer queue wait times and delayed support caused by sudden staffing gaps.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TALK TRACK (1:15 - 1:55):</a:t>
            </a:r>
          </a:p>
          <a:p>
            <a:r>
              <a:t>By replacing manual processes with automated AUX break governance, the business realizes 4 core benefits:</a:t>
            </a:r>
          </a:p>
          <a:p>
            <a:r>
              <a:t>1. Eliminating Break Delays &amp; Confusion recovers 15 to 20 minutes of productive shift time per agent daily.</a:t>
            </a:r>
          </a:p>
          <a:p>
            <a:r>
              <a:t>2. Eliminating Manual Request Overload reclaims up to two hours of supervisory capacity per shift.</a:t>
            </a:r>
          </a:p>
          <a:p>
            <a:r>
              <a:t>3. Eliminating Visibility Gaps &amp; Staffing Variance eliminates unplanned overtime costs through 100% real-time floor visibility.</a:t>
            </a:r>
          </a:p>
          <a:p>
            <a:r>
              <a:t>4. Eliminating Long Wait Times &amp; Staffing Deficits reduces queue wait times by 15 to 25% and curbs call abandonment during critical call volume peaks.</a:t>
            </a:r>
          </a:p>
          <a:p>
            <a:r>
              <a:t>This turns chaotic break management into measurable, automated operational ROI.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defRPr sz="1050" b="1">
                <a:solidFill>
                  <a:srgbClr val="2563EB"/>
                </a:solidFill>
              </a:defRPr>
            </a:pPr>
            <a:r>
              <a:t>EXECUTIVE OVERVIEW  •  OPERATIONAL CONTEXT</a:t>
            </a:r>
          </a:p>
          <a:p>
            <a:pPr>
              <a:spcBef>
                <a:spcPts val="300"/>
              </a:spcBef>
              <a:defRPr sz="2400" b="1">
                <a:solidFill>
                  <a:srgbClr val="0F172A"/>
                </a:solidFill>
              </a:defRPr>
            </a:pPr>
            <a:r>
              <a:t>AUX Break Management &amp; Floor Adherence Breakdown</a:t>
            </a:r>
          </a:p>
          <a:p>
            <a:pPr>
              <a:spcBef>
                <a:spcPts val="300"/>
              </a:spcBef>
              <a:defRPr sz="1200">
                <a:solidFill>
                  <a:srgbClr val="64748B"/>
                </a:solidFill>
              </a:defRPr>
            </a:pPr>
            <a:r>
              <a:t>The hidden cost of manual communication channels in modern contact center operations</a:t>
            </a:r>
          </a:p>
        </p:txBody>
      </p:sp>
      <p:sp>
        <p:nvSpPr>
          <p:cNvPr id="4" name="Rounded Rectangle 3"/>
          <p:cNvSpPr/>
          <p:nvPr/>
        </p:nvSpPr>
        <p:spPr>
          <a:xfrm>
            <a:off x="731520" y="1691640"/>
            <a:ext cx="10728655" cy="1737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80015" cy="1463040"/>
          </a:xfrm>
          <a:prstGeom prst="rect">
            <a:avLst/>
          </a:prstGeom>
          <a:noFill/>
        </p:spPr>
        <p:txBody>
          <a:bodyPr wrap="square" lIns="0" tIns="0" rIns="0" bIns="0">
            <a:spAutoFit/>
          </a:bodyPr>
          <a:lstStyle/>
          <a:p>
            <a:pPr>
              <a:defRPr sz="1400" b="1">
                <a:solidFill>
                  <a:srgbClr val="DC2626"/>
                </a:solidFill>
              </a:defRPr>
            </a:pPr>
            <a:r>
              <a:t>🚨  Core Problem Statement</a:t>
            </a:r>
          </a:p>
          <a:p>
            <a:pPr>
              <a:spcBef>
                <a:spcPts val="600"/>
              </a:spcBef>
              <a:defRPr sz="1300">
                <a:solidFill>
                  <a:srgbClr val="1E293B"/>
                </a:solidFill>
              </a:defRPr>
            </a:pPr>
            <a:r>
              <a:t>Contact centers rely on manual AUX break requests and approvals through emails and group chats, resulting in communication delays, limited request visibility, inconsistent tracking, and difficulties maintaining agent adherence and workforce availability.</a:t>
            </a:r>
          </a:p>
        </p:txBody>
      </p:sp>
      <p:sp>
        <p:nvSpPr>
          <p:cNvPr id="6" name="TextBox 5"/>
          <p:cNvSpPr txBox="1"/>
          <p:nvPr/>
        </p:nvSpPr>
        <p:spPr>
          <a:xfrm>
            <a:off x="731520" y="3611880"/>
            <a:ext cx="10728655" cy="365760"/>
          </a:xfrm>
          <a:prstGeom prst="rect">
            <a:avLst/>
          </a:prstGeom>
          <a:noFill/>
        </p:spPr>
        <p:txBody>
          <a:bodyPr wrap="none" lIns="0" tIns="0" rIns="0" bIns="0">
            <a:spAutoFit/>
          </a:bodyPr>
          <a:lstStyle/>
          <a:p>
            <a:pPr>
              <a:defRPr sz="1300" b="1">
                <a:solidFill>
                  <a:srgbClr val="0F172A"/>
                </a:solidFill>
              </a:defRPr>
            </a:pPr>
            <a:r>
              <a:t>👥  Affected Users Across the Operational Ecosystem</a:t>
            </a:r>
          </a:p>
        </p:txBody>
      </p:sp>
      <p:sp>
        <p:nvSpPr>
          <p:cNvPr id="7" name="Rounded Rectangle 6"/>
          <p:cNvSpPr/>
          <p:nvPr/>
        </p:nvSpPr>
        <p:spPr>
          <a:xfrm>
            <a:off x="731520" y="4069080"/>
            <a:ext cx="2542032"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4206240"/>
            <a:ext cx="2212848" cy="1828800"/>
          </a:xfrm>
          <a:prstGeom prst="rect">
            <a:avLst/>
          </a:prstGeom>
          <a:noFill/>
        </p:spPr>
        <p:txBody>
          <a:bodyPr wrap="square" lIns="0" tIns="0" rIns="0" bIns="0">
            <a:spAutoFit/>
          </a:bodyPr>
          <a:lstStyle/>
          <a:p>
            <a:pPr>
              <a:defRPr sz="1300" b="1">
                <a:solidFill>
                  <a:srgbClr val="2563EB"/>
                </a:solidFill>
              </a:defRPr>
            </a:pPr>
            <a:r>
              <a:t>🎧  Frontline Agents</a:t>
            </a:r>
          </a:p>
          <a:p>
            <a:pPr>
              <a:spcBef>
                <a:spcPts val="800"/>
              </a:spcBef>
              <a:defRPr sz="1050">
                <a:solidFill>
                  <a:srgbClr val="64748B"/>
                </a:solidFill>
              </a:defRPr>
            </a:pPr>
            <a:r>
              <a:t>Face uncertainty waiting on approvals, fragmented chat updates, and adherence penalties.</a:t>
            </a:r>
          </a:p>
        </p:txBody>
      </p:sp>
      <p:sp>
        <p:nvSpPr>
          <p:cNvPr id="9" name="Rounded Rectangle 8"/>
          <p:cNvSpPr/>
          <p:nvPr/>
        </p:nvSpPr>
        <p:spPr>
          <a:xfrm>
            <a:off x="3456432" y="4069080"/>
            <a:ext cx="2542032"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4206240"/>
            <a:ext cx="2212848" cy="1828800"/>
          </a:xfrm>
          <a:prstGeom prst="rect">
            <a:avLst/>
          </a:prstGeom>
          <a:noFill/>
        </p:spPr>
        <p:txBody>
          <a:bodyPr wrap="square" lIns="0" tIns="0" rIns="0" bIns="0">
            <a:spAutoFit/>
          </a:bodyPr>
          <a:lstStyle/>
          <a:p>
            <a:pPr>
              <a:defRPr sz="1300" b="1">
                <a:solidFill>
                  <a:srgbClr val="2563EB"/>
                </a:solidFill>
              </a:defRPr>
            </a:pPr>
            <a:r>
              <a:t>👩‍💼  Team Leads &amp; Supervisors</a:t>
            </a:r>
          </a:p>
          <a:p>
            <a:pPr>
              <a:spcBef>
                <a:spcPts val="800"/>
              </a:spcBef>
              <a:defRPr sz="1050">
                <a:solidFill>
                  <a:srgbClr val="64748B"/>
                </a:solidFill>
              </a:defRPr>
            </a:pPr>
            <a:r>
              <a:t>Trapped in repetitive manual approvals and chat follow-ups instead of high-value coaching.</a:t>
            </a:r>
          </a:p>
        </p:txBody>
      </p:sp>
      <p:sp>
        <p:nvSpPr>
          <p:cNvPr id="11" name="Rounded Rectangle 10"/>
          <p:cNvSpPr/>
          <p:nvPr/>
        </p:nvSpPr>
        <p:spPr>
          <a:xfrm>
            <a:off x="6181344" y="4069080"/>
            <a:ext cx="2542032"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4206240"/>
            <a:ext cx="2212848" cy="1828800"/>
          </a:xfrm>
          <a:prstGeom prst="rect">
            <a:avLst/>
          </a:prstGeom>
          <a:noFill/>
        </p:spPr>
        <p:txBody>
          <a:bodyPr wrap="square" lIns="0" tIns="0" rIns="0" bIns="0">
            <a:spAutoFit/>
          </a:bodyPr>
          <a:lstStyle/>
          <a:p>
            <a:pPr>
              <a:defRPr sz="1300" b="1">
                <a:solidFill>
                  <a:srgbClr val="2563EB"/>
                </a:solidFill>
              </a:defRPr>
            </a:pPr>
            <a:r>
              <a:t>📊  WFM Planners &amp; Operations</a:t>
            </a:r>
          </a:p>
          <a:p>
            <a:pPr>
              <a:spcBef>
                <a:spcPts val="800"/>
              </a:spcBef>
              <a:defRPr sz="1050">
                <a:solidFill>
                  <a:srgbClr val="64748B"/>
                </a:solidFill>
              </a:defRPr>
            </a:pPr>
            <a:r>
              <a:t>Struggle with invisible break schedules, unforecasted staffing deficits, and adherence leaks.</a:t>
            </a:r>
          </a:p>
        </p:txBody>
      </p:sp>
      <p:sp>
        <p:nvSpPr>
          <p:cNvPr id="13" name="Rounded Rectangle 12"/>
          <p:cNvSpPr/>
          <p:nvPr/>
        </p:nvSpPr>
        <p:spPr>
          <a:xfrm>
            <a:off x="8906256" y="4069080"/>
            <a:ext cx="2542032"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4206240"/>
            <a:ext cx="2212848" cy="1828800"/>
          </a:xfrm>
          <a:prstGeom prst="rect">
            <a:avLst/>
          </a:prstGeom>
          <a:noFill/>
        </p:spPr>
        <p:txBody>
          <a:bodyPr wrap="square" lIns="0" tIns="0" rIns="0" bIns="0">
            <a:spAutoFit/>
          </a:bodyPr>
          <a:lstStyle/>
          <a:p>
            <a:pPr>
              <a:defRPr sz="1300" b="1">
                <a:solidFill>
                  <a:srgbClr val="2563EB"/>
                </a:solidFill>
              </a:defRPr>
            </a:pPr>
            <a:r>
              <a:t>🤝  End Customers</a:t>
            </a:r>
          </a:p>
          <a:p>
            <a:pPr>
              <a:spcBef>
                <a:spcPts val="800"/>
              </a:spcBef>
              <a:defRPr sz="1050">
                <a:solidFill>
                  <a:srgbClr val="64748B"/>
                </a:solidFill>
              </a:defRPr>
            </a:pPr>
            <a:r>
              <a:t>Endure longer queue wait times and delayed support caused by sudden staffing gaps.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defRPr sz="1050" b="1">
                <a:solidFill>
                  <a:srgbClr val="2563EB"/>
                </a:solidFill>
              </a:defRPr>
            </a:pPr>
            <a:r>
              <a:t>OPERATIONAL BOTTLENECKS  •  ROOT CAUSES</a:t>
            </a:r>
          </a:p>
          <a:p>
            <a:pPr>
              <a:spcBef>
                <a:spcPts val="300"/>
              </a:spcBef>
              <a:defRPr sz="2400" b="1">
                <a:solidFill>
                  <a:srgbClr val="0F172A"/>
                </a:solidFill>
              </a:defRPr>
            </a:pPr>
            <a:r>
              <a:t>Pain Points – AUX Break Management</a:t>
            </a:r>
          </a:p>
          <a:p>
            <a:pPr>
              <a:spcBef>
                <a:spcPts val="300"/>
              </a:spcBef>
              <a:defRPr sz="1200">
                <a:solidFill>
                  <a:srgbClr val="64748B"/>
                </a:solidFill>
              </a:defRPr>
            </a:pPr>
            <a:r>
              <a:t>How manual workflows degrade efficiency across agents, supervisors, WFM, and customers</a:t>
            </a:r>
          </a:p>
        </p:txBody>
      </p:sp>
      <p:sp>
        <p:nvSpPr>
          <p:cNvPr id="4" name="Rounded Rectangle 3"/>
          <p:cNvSpPr/>
          <p:nvPr/>
        </p:nvSpPr>
        <p:spPr>
          <a:xfrm>
            <a:off x="731520" y="1783080"/>
            <a:ext cx="5230368" cy="205740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47672"/>
            <a:ext cx="4773168" cy="1728216"/>
          </a:xfrm>
          <a:prstGeom prst="rect">
            <a:avLst/>
          </a:prstGeom>
          <a:noFill/>
        </p:spPr>
        <p:txBody>
          <a:bodyPr wrap="square" lIns="0" tIns="0" rIns="0" bIns="0">
            <a:spAutoFit/>
          </a:bodyPr>
          <a:lstStyle/>
          <a:p>
            <a:pPr>
              <a:defRPr sz="1400" b="1">
                <a:solidFill>
                  <a:srgbClr val="0F172A"/>
                </a:solidFill>
              </a:defRPr>
            </a:pPr>
            <a:r>
              <a:t>🎧  Agents</a:t>
            </a:r>
          </a:p>
          <a:p>
            <a:pPr>
              <a:spcBef>
                <a:spcPts val="600"/>
              </a:spcBef>
              <a:defRPr sz="1150">
                <a:solidFill>
                  <a:srgbClr val="1E293B"/>
                </a:solidFill>
              </a:defRPr>
            </a:pPr>
            <a:r>
              <a:t>• Delayed break approvals, unclear request status, and difficulty communicating break requests.</a:t>
            </a:r>
          </a:p>
          <a:p>
            <a:pPr>
              <a:spcBef>
                <a:spcPts val="600"/>
              </a:spcBef>
              <a:defRPr sz="1000">
                <a:solidFill>
                  <a:srgbClr val="64748B"/>
                </a:solidFill>
              </a:defRPr>
            </a:pPr>
            <a:r>
              <a:t>Impact: Idle waiting off-queue, schedule frustration, and compliance confusion.</a:t>
            </a:r>
          </a:p>
        </p:txBody>
      </p:sp>
      <p:sp>
        <p:nvSpPr>
          <p:cNvPr id="6" name="Rounded Rectangle 5"/>
          <p:cNvSpPr/>
          <p:nvPr/>
        </p:nvSpPr>
        <p:spPr>
          <a:xfrm>
            <a:off x="6227064" y="1783080"/>
            <a:ext cx="5230368" cy="20574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55664" y="1947672"/>
            <a:ext cx="4773168" cy="1728216"/>
          </a:xfrm>
          <a:prstGeom prst="rect">
            <a:avLst/>
          </a:prstGeom>
          <a:noFill/>
        </p:spPr>
        <p:txBody>
          <a:bodyPr wrap="square" lIns="0" tIns="0" rIns="0" bIns="0">
            <a:spAutoFit/>
          </a:bodyPr>
          <a:lstStyle/>
          <a:p>
            <a:pPr>
              <a:defRPr sz="1400" b="1">
                <a:solidFill>
                  <a:srgbClr val="0F172A"/>
                </a:solidFill>
              </a:defRPr>
            </a:pPr>
            <a:r>
              <a:t>👩‍💼  Team Leaders (TLs)</a:t>
            </a:r>
          </a:p>
          <a:p>
            <a:pPr>
              <a:spcBef>
                <a:spcPts val="600"/>
              </a:spcBef>
              <a:defRPr sz="1150">
                <a:solidFill>
                  <a:srgbClr val="1E293B"/>
                </a:solidFill>
              </a:defRPr>
            </a:pPr>
            <a:r>
              <a:t>• High volume of manual requests, repetitive follow-ups, and difficulty tracking approvals.</a:t>
            </a:r>
          </a:p>
          <a:p>
            <a:pPr>
              <a:spcBef>
                <a:spcPts val="600"/>
              </a:spcBef>
              <a:defRPr sz="1000">
                <a:solidFill>
                  <a:srgbClr val="64748B"/>
                </a:solidFill>
              </a:defRPr>
            </a:pPr>
            <a:r>
              <a:t>Impact: 1.5–2 hours wasted daily on routine approvals instead of frontline coaching.</a:t>
            </a:r>
          </a:p>
        </p:txBody>
      </p:sp>
      <p:sp>
        <p:nvSpPr>
          <p:cNvPr id="8" name="Rounded Rectangle 7"/>
          <p:cNvSpPr/>
          <p:nvPr/>
        </p:nvSpPr>
        <p:spPr>
          <a:xfrm>
            <a:off x="731520" y="4069080"/>
            <a:ext cx="5230368" cy="205740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233672"/>
            <a:ext cx="4773168" cy="1728216"/>
          </a:xfrm>
          <a:prstGeom prst="rect">
            <a:avLst/>
          </a:prstGeom>
          <a:noFill/>
        </p:spPr>
        <p:txBody>
          <a:bodyPr wrap="square" lIns="0" tIns="0" rIns="0" bIns="0">
            <a:spAutoFit/>
          </a:bodyPr>
          <a:lstStyle/>
          <a:p>
            <a:pPr>
              <a:defRPr sz="1400" b="1">
                <a:solidFill>
                  <a:srgbClr val="0F172A"/>
                </a:solidFill>
              </a:defRPr>
            </a:pPr>
            <a:r>
              <a:t>📊  WFM Management</a:t>
            </a:r>
          </a:p>
          <a:p>
            <a:pPr>
              <a:spcBef>
                <a:spcPts val="600"/>
              </a:spcBef>
              <a:defRPr sz="1150">
                <a:solidFill>
                  <a:srgbClr val="1E293B"/>
                </a:solidFill>
              </a:defRPr>
            </a:pPr>
            <a:r>
              <a:t>• Limited visibility into agent AUX status, break schedules, and real-time staffing availability.</a:t>
            </a:r>
          </a:p>
          <a:p>
            <a:pPr>
              <a:spcBef>
                <a:spcPts val="600"/>
              </a:spcBef>
              <a:defRPr sz="1000">
                <a:solidFill>
                  <a:srgbClr val="64748B"/>
                </a:solidFill>
              </a:defRPr>
            </a:pPr>
            <a:r>
              <a:t>Impact: Intraday staffing variance, schedule leakage, and reactive overtime costs.</a:t>
            </a:r>
          </a:p>
        </p:txBody>
      </p:sp>
      <p:sp>
        <p:nvSpPr>
          <p:cNvPr id="10" name="Rounded Rectangle 9"/>
          <p:cNvSpPr/>
          <p:nvPr/>
        </p:nvSpPr>
        <p:spPr>
          <a:xfrm>
            <a:off x="6227064" y="4069080"/>
            <a:ext cx="5230368" cy="20574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4233672"/>
            <a:ext cx="4773168" cy="1728216"/>
          </a:xfrm>
          <a:prstGeom prst="rect">
            <a:avLst/>
          </a:prstGeom>
          <a:noFill/>
        </p:spPr>
        <p:txBody>
          <a:bodyPr wrap="square" lIns="0" tIns="0" rIns="0" bIns="0">
            <a:spAutoFit/>
          </a:bodyPr>
          <a:lstStyle/>
          <a:p>
            <a:pPr>
              <a:defRPr sz="1400" b="1">
                <a:solidFill>
                  <a:srgbClr val="0F172A"/>
                </a:solidFill>
              </a:defRPr>
            </a:pPr>
            <a:r>
              <a:t>🤝  End Customers</a:t>
            </a:r>
          </a:p>
          <a:p>
            <a:pPr>
              <a:spcBef>
                <a:spcPts val="600"/>
              </a:spcBef>
              <a:defRPr sz="1150">
                <a:solidFill>
                  <a:srgbClr val="1E293B"/>
                </a:solidFill>
              </a:defRPr>
            </a:pPr>
            <a:r>
              <a:t>• Longer wait times and delayed support due to reduced agent availability and staffing gaps.</a:t>
            </a:r>
          </a:p>
          <a:p>
            <a:pPr>
              <a:spcBef>
                <a:spcPts val="600"/>
              </a:spcBef>
              <a:defRPr sz="1000">
                <a:solidFill>
                  <a:srgbClr val="64748B"/>
                </a:solidFill>
              </a:defRPr>
            </a:pPr>
            <a:r>
              <a:t>Impact: Increased queue abandonment, rushed interactions, and lower CSAT scores.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188720"/>
          </a:xfrm>
          <a:prstGeom prst="rect">
            <a:avLst/>
          </a:prstGeom>
          <a:noFill/>
        </p:spPr>
        <p:txBody>
          <a:bodyPr wrap="square" lIns="0" tIns="0" rIns="0" bIns="0">
            <a:spAutoFit/>
          </a:bodyPr>
          <a:lstStyle/>
          <a:p>
            <a:pPr>
              <a:defRPr sz="1050" b="1">
                <a:solidFill>
                  <a:srgbClr val="2563EB"/>
                </a:solidFill>
              </a:defRPr>
            </a:pPr>
            <a:r>
              <a:t>BUSINESS BENEFITS  •  MEASURABLE ROI</a:t>
            </a:r>
          </a:p>
          <a:p>
            <a:pPr>
              <a:spcBef>
                <a:spcPts val="300"/>
              </a:spcBef>
              <a:defRPr sz="2400" b="1">
                <a:solidFill>
                  <a:srgbClr val="0F172A"/>
                </a:solidFill>
              </a:defRPr>
            </a:pPr>
            <a:r>
              <a:t>Tangible Business Benefits of Automated AUX Management</a:t>
            </a:r>
          </a:p>
          <a:p>
            <a:pPr>
              <a:spcBef>
                <a:spcPts val="300"/>
              </a:spcBef>
              <a:defRPr sz="1200">
                <a:solidFill>
                  <a:srgbClr val="64748B"/>
                </a:solidFill>
              </a:defRPr>
            </a:pPr>
            <a:r>
              <a:t>Recovering capacity, restoring supervisor coaching time, and protecting customer SLA commitments</a:t>
            </a:r>
          </a:p>
        </p:txBody>
      </p:sp>
      <p:sp>
        <p:nvSpPr>
          <p:cNvPr id="4" name="Rounded Rectangle 3"/>
          <p:cNvSpPr/>
          <p:nvPr/>
        </p:nvSpPr>
        <p:spPr>
          <a:xfrm>
            <a:off x="731520" y="1783080"/>
            <a:ext cx="5230368" cy="2057400"/>
          </a:xfrm>
          <a:prstGeom prst="roundRect">
            <a:avLst/>
          </a:prstGeom>
          <a:solidFill>
            <a:srgbClr val="FFFFFF"/>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47672"/>
            <a:ext cx="4773168" cy="1728216"/>
          </a:xfrm>
          <a:prstGeom prst="rect">
            <a:avLst/>
          </a:prstGeom>
          <a:noFill/>
        </p:spPr>
        <p:txBody>
          <a:bodyPr wrap="square" lIns="0" tIns="0" rIns="0" bIns="0">
            <a:spAutoFit/>
          </a:bodyPr>
          <a:lstStyle/>
          <a:p>
            <a:pPr>
              <a:defRPr sz="1300" b="1">
                <a:solidFill>
                  <a:srgbClr val="0F172A"/>
                </a:solidFill>
              </a:defRPr>
            </a:pPr>
            <a:r>
              <a:t>⏱️  Eliminating Break Delays &amp; Confusion</a:t>
            </a:r>
          </a:p>
          <a:p>
            <a:pPr>
              <a:spcBef>
                <a:spcPts val="600"/>
              </a:spcBef>
              <a:defRPr sz="1200" b="1">
                <a:solidFill>
                  <a:srgbClr val="10B981"/>
                </a:solidFill>
              </a:defRPr>
            </a:pPr>
            <a:r>
              <a:t>★  Recovers 15–20 minutes of productive shift time per agent daily</a:t>
            </a:r>
          </a:p>
          <a:p>
            <a:pPr>
              <a:spcBef>
                <a:spcPts val="500"/>
              </a:spcBef>
              <a:defRPr sz="1000">
                <a:solidFill>
                  <a:srgbClr val="64748B"/>
                </a:solidFill>
              </a:defRPr>
            </a:pPr>
            <a:r>
              <a:t>Instant self-service evaluation eliminates off-queue waiting time and improves agent satisfaction.</a:t>
            </a:r>
          </a:p>
        </p:txBody>
      </p:sp>
      <p:sp>
        <p:nvSpPr>
          <p:cNvPr id="6" name="Rounded Rectangle 5"/>
          <p:cNvSpPr/>
          <p:nvPr/>
        </p:nvSpPr>
        <p:spPr>
          <a:xfrm>
            <a:off x="6227064" y="1783080"/>
            <a:ext cx="5230368" cy="2057400"/>
          </a:xfrm>
          <a:prstGeom prst="roundRect">
            <a:avLst/>
          </a:prstGeom>
          <a:solidFill>
            <a:srgbClr val="FFFFFF"/>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55664" y="1947672"/>
            <a:ext cx="4773168" cy="1728216"/>
          </a:xfrm>
          <a:prstGeom prst="rect">
            <a:avLst/>
          </a:prstGeom>
          <a:noFill/>
        </p:spPr>
        <p:txBody>
          <a:bodyPr wrap="square" lIns="0" tIns="0" rIns="0" bIns="0">
            <a:spAutoFit/>
          </a:bodyPr>
          <a:lstStyle/>
          <a:p>
            <a:pPr>
              <a:defRPr sz="1300" b="1">
                <a:solidFill>
                  <a:srgbClr val="0F172A"/>
                </a:solidFill>
              </a:defRPr>
            </a:pPr>
            <a:r>
              <a:t>👩‍💼  Eliminating Manual Request Overload</a:t>
            </a:r>
          </a:p>
          <a:p>
            <a:pPr>
              <a:spcBef>
                <a:spcPts val="600"/>
              </a:spcBef>
              <a:defRPr sz="1200" b="1">
                <a:solidFill>
                  <a:srgbClr val="10B981"/>
                </a:solidFill>
              </a:defRPr>
            </a:pPr>
            <a:r>
              <a:t>★  Automating routine approvals reclaims up to two hours of supervisory capacity per shift</a:t>
            </a:r>
          </a:p>
          <a:p>
            <a:pPr>
              <a:spcBef>
                <a:spcPts val="500"/>
              </a:spcBef>
              <a:defRPr sz="1000">
                <a:solidFill>
                  <a:srgbClr val="64748B"/>
                </a:solidFill>
              </a:defRPr>
            </a:pPr>
            <a:r>
              <a:t>Frees Team Leaders from constant chat interruptions to focus on coaching and escalation resolution.</a:t>
            </a:r>
          </a:p>
        </p:txBody>
      </p:sp>
      <p:sp>
        <p:nvSpPr>
          <p:cNvPr id="8" name="Rounded Rectangle 7"/>
          <p:cNvSpPr/>
          <p:nvPr/>
        </p:nvSpPr>
        <p:spPr>
          <a:xfrm>
            <a:off x="731520" y="4069080"/>
            <a:ext cx="5230368" cy="205740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233672"/>
            <a:ext cx="4773168" cy="1728216"/>
          </a:xfrm>
          <a:prstGeom prst="rect">
            <a:avLst/>
          </a:prstGeom>
          <a:noFill/>
        </p:spPr>
        <p:txBody>
          <a:bodyPr wrap="square" lIns="0" tIns="0" rIns="0" bIns="0">
            <a:spAutoFit/>
          </a:bodyPr>
          <a:lstStyle/>
          <a:p>
            <a:pPr>
              <a:defRPr sz="1300" b="1">
                <a:solidFill>
                  <a:srgbClr val="0F172A"/>
                </a:solidFill>
              </a:defRPr>
            </a:pPr>
            <a:r>
              <a:t>📊  Eliminating Visibility Gaps &amp; Staffing Variance</a:t>
            </a:r>
          </a:p>
          <a:p>
            <a:pPr>
              <a:spcBef>
                <a:spcPts val="600"/>
              </a:spcBef>
              <a:defRPr sz="1200" b="1">
                <a:solidFill>
                  <a:srgbClr val="2563EB"/>
                </a:solidFill>
              </a:defRPr>
            </a:pPr>
            <a:r>
              <a:t>★  Eliminates unplanned overtime costs through 100% real-time floor visibility</a:t>
            </a:r>
          </a:p>
          <a:p>
            <a:pPr>
              <a:spcBef>
                <a:spcPts val="500"/>
              </a:spcBef>
              <a:defRPr sz="1000">
                <a:solidFill>
                  <a:srgbClr val="64748B"/>
                </a:solidFill>
              </a:defRPr>
            </a:pPr>
            <a:r>
              <a:t>Synchronized CTI telemetry and wallboards ensure strict schedule adherence and predictable staffing.</a:t>
            </a:r>
          </a:p>
        </p:txBody>
      </p:sp>
      <p:sp>
        <p:nvSpPr>
          <p:cNvPr id="10" name="Rounded Rectangle 9"/>
          <p:cNvSpPr/>
          <p:nvPr/>
        </p:nvSpPr>
        <p:spPr>
          <a:xfrm>
            <a:off x="6227064" y="4069080"/>
            <a:ext cx="5230368" cy="205740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4233672"/>
            <a:ext cx="4773168" cy="1728216"/>
          </a:xfrm>
          <a:prstGeom prst="rect">
            <a:avLst/>
          </a:prstGeom>
          <a:noFill/>
        </p:spPr>
        <p:txBody>
          <a:bodyPr wrap="square" lIns="0" tIns="0" rIns="0" bIns="0">
            <a:spAutoFit/>
          </a:bodyPr>
          <a:lstStyle/>
          <a:p>
            <a:pPr>
              <a:defRPr sz="1300" b="1">
                <a:solidFill>
                  <a:srgbClr val="0F172A"/>
                </a:solidFill>
              </a:defRPr>
            </a:pPr>
            <a:r>
              <a:t>🤝  Eliminating Long Wait Times &amp; Staffing Deficits</a:t>
            </a:r>
          </a:p>
          <a:p>
            <a:pPr>
              <a:spcBef>
                <a:spcPts val="600"/>
              </a:spcBef>
              <a:defRPr sz="1200" b="1">
                <a:solidFill>
                  <a:srgbClr val="2563EB"/>
                </a:solidFill>
              </a:defRPr>
            </a:pPr>
            <a:r>
              <a:t>★  Reduces queue wait times (ASA) by 15–25% and curbs call abandonment during critical call volume peaks</a:t>
            </a:r>
          </a:p>
          <a:p>
            <a:pPr>
              <a:spcBef>
                <a:spcPts val="500"/>
              </a:spcBef>
              <a:defRPr sz="1000">
                <a:solidFill>
                  <a:srgbClr val="64748B"/>
                </a:solidFill>
              </a:defRPr>
            </a:pPr>
            <a:r>
              <a:t>Intelligent break throttling prevents simultaneous break stacking during peak caller arrival windows.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