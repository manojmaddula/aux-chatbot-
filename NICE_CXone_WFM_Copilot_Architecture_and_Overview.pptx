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</a:defRPr>
            </a:pPr>
            <a:r>
              <a:t>NICE CXONE INTEL ENGINE</a:t>
            </a:r>
          </a:p>
          <a:p>
            <a:pPr>
              <a:defRPr sz="4600" b="1">
                <a:solidFill>
                  <a:srgbClr val="FFFFFF"/>
                </a:solidFill>
              </a:defRPr>
            </a:pPr>
            <a:r>
              <a:t>Meet ZEL</a:t>
            </a:r>
          </a:p>
          <a:p>
            <a:pPr>
              <a:spcAft>
                <a:spcPts val="1000"/>
              </a:spcAft>
              <a:defRPr sz="2200" i="1" b="1">
                <a:solidFill>
                  <a:srgbClr val="38BDF8"/>
                </a:solidFill>
              </a:defRPr>
            </a:pPr>
            <a:r>
              <a:t>“Zero wait to leave, zero wait to return”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Autonomous AI-powered WFM Copilot that eliminates break approval delays, protects schedule adherence, and instantly guides agents back to the desk.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0" y="1097280"/>
            <a:ext cx="3291840" cy="38404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463040"/>
            <a:ext cx="2377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40233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ZEL AI Companion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Always-on desktop copilot for agents &amp; supervisors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20640"/>
            <a:ext cx="3337560" cy="12801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21208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⚡ Zero Wait to Leave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Microsecond Erlang-C capacity gating grants tea/bio breaks instantly without waiting for supervisor chat.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5120640"/>
            <a:ext cx="3337560" cy="12801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521208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🔄 Zero Wait to Return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Automated desktop voice recalls and countdown timers ensure effortless, prompt return to available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5120640"/>
            <a:ext cx="3337560" cy="12801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39" y="521208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🛡️ Instant Queue Protection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Dynamic skill flex rebalances 300+ surge calls in under 3 minutes, safeguarding customer SLAs.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ZERO WAIT TO LEAVE, ZERO WAIT TO RETURN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How ZEL Works: The Frictionless Break &amp; Return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251460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417320"/>
            <a:ext cx="2240280" cy="38404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1: 1-Click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2240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F172A"/>
                </a:solidFill>
              </a:defRPr>
            </a:pPr>
            <a:r>
              <a:t>Action:</a:t>
            </a:r>
            <a:br/>
            <a:r>
              <a:t>Agent selects Break in floating widget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Feature:</a:t>
            </a:r>
            <a:br/>
            <a:r>
              <a:t>• Tea, Bio, Lunch, or System Issue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Outcome:</a:t>
            </a:r>
            <a:br/>
            <a:r>
              <a:t>✔ Agent never leaves workspace</a:t>
            </a:r>
          </a:p>
        </p:txBody>
      </p:sp>
      <p:sp>
        <p:nvSpPr>
          <p:cNvPr id="7" name="Chevron 6"/>
          <p:cNvSpPr/>
          <p:nvPr/>
        </p:nvSpPr>
        <p:spPr>
          <a:xfrm>
            <a:off x="3273552" y="2560320"/>
            <a:ext cx="164592" cy="32004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280160"/>
            <a:ext cx="251460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1417320"/>
            <a:ext cx="2240280" cy="384048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2: Instant Gating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874519"/>
            <a:ext cx="2240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F172A"/>
                </a:solidFill>
              </a:defRPr>
            </a:pPr>
            <a:r>
              <a:t>Action:</a:t>
            </a:r>
            <a:br/>
            <a:r>
              <a:t>Erlang-C math checks live floor queue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Feature:</a:t>
            </a:r>
            <a:br/>
            <a:r>
              <a:t>• Capacity &gt; 80% = Instant 15m grant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Outcome:</a:t>
            </a:r>
            <a:br/>
            <a:r>
              <a:t>✔ Zero waiting for manual sign-off</a:t>
            </a:r>
          </a:p>
        </p:txBody>
      </p:sp>
      <p:sp>
        <p:nvSpPr>
          <p:cNvPr id="11" name="Chevron 10"/>
          <p:cNvSpPr/>
          <p:nvPr/>
        </p:nvSpPr>
        <p:spPr>
          <a:xfrm>
            <a:off x="5971032" y="2560320"/>
            <a:ext cx="164592" cy="32004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0" y="1280160"/>
            <a:ext cx="251460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417320"/>
            <a:ext cx="2240280" cy="384048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3: Rest Interval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74519"/>
            <a:ext cx="2240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F172A"/>
                </a:solidFill>
              </a:defRPr>
            </a:pPr>
            <a:r>
              <a:t>Action:</a:t>
            </a:r>
            <a:br/>
            <a:r>
              <a:t>Widget tracks active rest interval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Feature:</a:t>
            </a:r>
            <a:br/>
            <a:r>
              <a:t>• Real-time countdown timer displayed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Outcome:</a:t>
            </a:r>
            <a:br/>
            <a:r>
              <a:t>✔ Fatigue mitigation &amp; compliance</a:t>
            </a:r>
          </a:p>
        </p:txBody>
      </p:sp>
      <p:sp>
        <p:nvSpPr>
          <p:cNvPr id="15" name="Chevron 14"/>
          <p:cNvSpPr/>
          <p:nvPr/>
        </p:nvSpPr>
        <p:spPr>
          <a:xfrm>
            <a:off x="8668512" y="2560320"/>
            <a:ext cx="164592" cy="32004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23960" y="1280160"/>
            <a:ext cx="251460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20" y="1417320"/>
            <a:ext cx="2240280" cy="384048"/>
          </a:xfrm>
          <a:prstGeom prst="round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4: Prompt Return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1874519"/>
            <a:ext cx="2240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F172A"/>
                </a:solidFill>
              </a:defRPr>
            </a:pPr>
            <a:r>
              <a:t>Action:</a:t>
            </a:r>
            <a:br/>
            <a:r>
              <a:t>Smart alert &amp; voice bot prompt to desk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Feature:</a:t>
            </a:r>
            <a:br/>
            <a:r>
              <a:t>• 1-Click switch back to Available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Outcome:</a:t>
            </a:r>
            <a:br/>
            <a:r>
              <a:t>✔ Zero wait to resume calls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89120"/>
            <a:ext cx="1069848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8056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E3A8A"/>
                </a:solidFill>
              </a:defRPr>
            </a:pPr>
            <a:r>
              <a:t>TRADITIONAL BREAK PROCESS VS. ZEL AUTONOMOUS EXPERIENCE</a:t>
            </a:r>
          </a:p>
          <a:p>
            <a:pPr>
              <a:spcAft>
                <a:spcPts val="400"/>
              </a:spcAft>
              <a:defRPr sz="950">
                <a:solidFill>
                  <a:srgbClr val="B91C1C"/>
                </a:solidFill>
              </a:defRPr>
            </a:pPr>
            <a:r>
              <a:t>❌ Legacy Process: Agent messages supervisor in chat ➔ Waits 10–20 mins while customer queue builds ➔ Supervisor manually checks staffing spreadsheets ➔ Agent overstays break due to lack of timer ➔ Queue spikes cause supervisor panic.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ZEL Experience: 1-Click request from floating desktop ➔ 100ms Erlang-C capacity gating ➔ Instant automated grant ('Zero wait to leave') ➔ Widget countdown timer tracks rest ➔ Automated voice bot recalls to desk ('Zero wait to return').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CONNECTED FRONT-LINE &amp; LEADERSHIP FLOW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The ZEL Experience: Dual Agent &amp; Supervisor Workflows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👤 Front-Line Agent Journey (AUXY Widget)</a:t>
            </a:r>
          </a:p>
          <a:p>
            <a:pPr>
              <a:spcAft>
                <a:spcPts val="800"/>
              </a:spcAft>
              <a:defRPr b="1" sz="1000">
                <a:solidFill>
                  <a:srgbClr val="0F172A"/>
                </a:solidFill>
              </a:defRPr>
            </a:pPr>
            <a:r>
              <a:t>• 1. During Customer Call: </a:t>
            </a:r>
            <a:r>
              <a:rPr b="0" sz="950">
                <a:solidFill>
                  <a:srgbClr val="64748B"/>
                </a:solidFill>
              </a:rPr>
              <a:t>ZEL provides live speech tone coaching and real-time objection-handling templates directly on screen.</a:t>
            </a:r>
          </a:p>
          <a:p>
            <a:pPr>
              <a:spcAft>
                <a:spcPts val="800"/>
              </a:spcAft>
              <a:defRPr b="1" sz="1000">
                <a:solidFill>
                  <a:srgbClr val="0F172A"/>
                </a:solidFill>
              </a:defRPr>
            </a:pPr>
            <a:r>
              <a:t>• 2. Post-Call Wrap-up (ACW): </a:t>
            </a:r>
            <a:r>
              <a:rPr b="0" sz="950">
                <a:solidFill>
                  <a:srgbClr val="64748B"/>
                </a:solidFill>
              </a:rPr>
              <a:t>1-Click AI Summarizer auto-generates structured CRM notes, reducing after-call work from 68s to 34s.</a:t>
            </a:r>
          </a:p>
          <a:p>
            <a:pPr>
              <a:spcAft>
                <a:spcPts val="800"/>
              </a:spcAft>
              <a:defRPr b="1" sz="1000">
                <a:solidFill>
                  <a:srgbClr val="0F172A"/>
                </a:solidFill>
              </a:defRPr>
            </a:pPr>
            <a:r>
              <a:t>• 3. Applying for Break: </a:t>
            </a:r>
            <a:r>
              <a:rPr b="0" sz="950">
                <a:solidFill>
                  <a:srgbClr val="64748B"/>
                </a:solidFill>
              </a:rPr>
              <a:t>Zero wait to leave: Clicks Tea/Bio in widget, receives instant Erlang-C automated grant if queue capacity permits.</a:t>
            </a:r>
          </a:p>
          <a:p>
            <a:pPr>
              <a:spcAft>
                <a:spcPts val="800"/>
              </a:spcAft>
              <a:defRPr b="1" sz="1000">
                <a:solidFill>
                  <a:srgbClr val="0F172A"/>
                </a:solidFill>
              </a:defRPr>
            </a:pPr>
            <a:r>
              <a:t>• 4. Rest Period &amp; Recall: </a:t>
            </a:r>
            <a:r>
              <a:rPr b="0" sz="950">
                <a:solidFill>
                  <a:srgbClr val="64748B"/>
                </a:solidFill>
              </a:rPr>
              <a:t>Widget displays countdown timer; if floor experiences a sudden surge, ZEL rings with a synthesized voice desk recall.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👩‍💼 Supervisor Command Center Journey (REMI)</a:t>
            </a:r>
          </a:p>
          <a:p>
            <a:pPr>
              <a:spcAft>
                <a:spcPts val="800"/>
              </a:spcAft>
              <a:defRPr b="1" sz="1000">
                <a:solidFill>
                  <a:srgbClr val="0F172A"/>
                </a:solidFill>
              </a:defRPr>
            </a:pPr>
            <a:r>
              <a:t>• 1. Scoped Team Oversight: </a:t>
            </a:r>
            <a:r>
              <a:rPr b="0" sz="950">
                <a:solidFill>
                  <a:srgbClr val="64748B"/>
                </a:solidFill>
              </a:rPr>
              <a:t>Dashboard automatically filters to supervisor's direct reports (Sarah, Michael, Elena, David, Priya).</a:t>
            </a:r>
          </a:p>
          <a:p>
            <a:pPr>
              <a:spcAft>
                <a:spcPts val="800"/>
              </a:spcAft>
              <a:defRPr b="1" sz="1000">
                <a:solidFill>
                  <a:srgbClr val="0F172A"/>
                </a:solidFill>
              </a:defRPr>
            </a:pPr>
            <a:r>
              <a:t>• 2. Real-Time Adherence Tracking: </a:t>
            </a:r>
            <a:r>
              <a:rPr b="0" sz="950">
                <a:solidFill>
                  <a:srgbClr val="64748B"/>
                </a:solidFill>
              </a:rPr>
              <a:t>Monitors who is in AUX, tea break counts, and lunch variance with automated policy alerts.</a:t>
            </a:r>
          </a:p>
          <a:p>
            <a:pPr>
              <a:spcAft>
                <a:spcPts val="800"/>
              </a:spcAft>
              <a:defRPr b="1" sz="1000">
                <a:solidFill>
                  <a:srgbClr val="0F172A"/>
                </a:solidFill>
              </a:defRPr>
            </a:pPr>
            <a:r>
              <a:t>• 3. Dynamic Surge Rebalance: </a:t>
            </a:r>
            <a:r>
              <a:rPr b="0" sz="950">
                <a:solidFill>
                  <a:srgbClr val="64748B"/>
                </a:solidFill>
              </a:rPr>
              <a:t>1-Click allocates 3 idle Customer Service agents to Billing when volume spikes (+318 calls), saving SLA.</a:t>
            </a:r>
          </a:p>
          <a:p>
            <a:pPr>
              <a:spcAft>
                <a:spcPts val="800"/>
              </a:spcAft>
              <a:defRPr b="1" sz="1000">
                <a:solidFill>
                  <a:srgbClr val="0F172A"/>
                </a:solidFill>
              </a:defRPr>
            </a:pPr>
            <a:r>
              <a:t>• 4. QA Speech Sentiment Audits: </a:t>
            </a:r>
            <a:r>
              <a:rPr b="0" sz="950">
                <a:solidFill>
                  <a:srgbClr val="64748B"/>
                </a:solidFill>
              </a:rPr>
              <a:t>Reviews empathetic vs. rude speech calls and dispatches targeted LMS coaching modules (MOD-101 to 104).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BUSINESS IMPACT &amp; HIGH-VELOCITY ROI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Measurable Outcomes: Why Contact Centers Love ZEL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256032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2331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0 Sec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Wait for Break Approvals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Down from 15–20 minutes of chat latency. Zero wait to leave.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280160"/>
            <a:ext cx="256032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1371600"/>
            <a:ext cx="2331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-45 Sec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ACW Handle Time Saved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AI auto-summarization cuts CRM documentation time in half.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256032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7648" y="1371600"/>
            <a:ext cx="2331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A5E9"/>
                </a:solidFill>
              </a:defRPr>
            </a:pPr>
            <a:r>
              <a:t>34% ➔ 89%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Instant SLA Recovery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Cross-skill flex rebalance clears 300+ surge calls in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280160"/>
            <a:ext cx="256032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0848" y="1371600"/>
            <a:ext cx="2331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</a:defRPr>
            </a:pPr>
            <a:r>
              <a:t>1,000/min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Disaster IVR Auto-Deflect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Protects live agents from being overwhelmed during storm outages.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11880"/>
            <a:ext cx="10698480" cy="2788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E3A8A"/>
                </a:solidFill>
              </a:defRPr>
            </a:pPr>
            <a:r>
              <a:t>THREE PILLARS OF ENTERPRISE OPERATIONAL ROI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Pillar 1: Frictionless Workforce Adherence: </a:t>
            </a:r>
            <a:r>
              <a:rPr b="0" sz="950">
                <a:solidFill>
                  <a:srgbClr val="64748B"/>
                </a:solidFill>
              </a:rPr>
              <a:t>Removes break scheduling friction. Agents take breaks when queue capacity allows, eliminating unplanned overages and raising overall shift adherence by +18.4%.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Pillar 2: Reduced Handle Time &amp; Cognitive Fatigue: </a:t>
            </a:r>
            <a:r>
              <a:rPr b="0" sz="950">
                <a:solidFill>
                  <a:srgbClr val="64748B"/>
                </a:solidFill>
              </a:rPr>
              <a:t>AI ACW summarization eliminates repetitive post-call note typing, while fatigue tracking ensures overworked agents receive timely rest intervals before customer tone degrades.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Pillar 3: High-Agility Floor Governance: </a:t>
            </a:r>
            <a:r>
              <a:rPr b="0" sz="950">
                <a:solidFill>
                  <a:srgbClr val="64748B"/>
                </a:solidFill>
              </a:rPr>
              <a:t>Supervisors gain direct scoped team oversight, automated voice bot recalls, and 1-click dynamic surge rebalancing, saving 8+ managerial hours per week from manual tracking.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