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EXECUTIVE OVERVIEW &amp; 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NICE CXone Autonomous WFM &amp; AI Copilot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4754880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Operational Challenge in Legacy Contact Centers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Manual AUX States, Opaque Floor Drift &amp; Burnout Risk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Discretionary AUX Blind Spots: </a:t>
            </a:r>
            <a:r>
              <a:rPr b="0" sz="1000">
                <a:solidFill>
                  <a:srgbClr val="64748B"/>
                </a:solidFill>
              </a:rPr>
              <a:t>Agents manually toggle break codes without real-time Erlang-C staffing checks, leading to severe intraday queue starvation.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Sudden Inbound Queue Surges: </a:t>
            </a:r>
            <a:r>
              <a:rPr b="0" sz="1000">
                <a:solidFill>
                  <a:srgbClr val="64748B"/>
                </a:solidFill>
              </a:rPr>
              <a:t>Volume spikes (+300 calls) instantly drop SLAs from 85% to 34% while donor queues remain idle and underutilized.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Post-Call Wrap-up (ACW) Latency: </a:t>
            </a:r>
            <a:r>
              <a:rPr b="0" sz="1000">
                <a:solidFill>
                  <a:srgbClr val="64748B"/>
                </a:solidFill>
              </a:rPr>
              <a:t>Agents spend 60-90s manually entering CRM wrap-up notes, degrading handle times and inflating operational cost.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Regional Disaster Outages: </a:t>
            </a:r>
            <a:r>
              <a:rPr b="0" sz="1000">
                <a:solidFill>
                  <a:srgbClr val="64748B"/>
                </a:solidFill>
              </a:rPr>
              <a:t>Severe storms flood queues past 1,000 calls/min with no automated front-line deflection, paralyzing live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846320" cy="3602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Autonomous AI-Powered WFM Solution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Dual Agent &amp; Supervisor Intelligence Ecosystem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AUXY Agent Desktop Copilot: </a:t>
            </a:r>
            <a:r>
              <a:rPr b="0" sz="1000">
                <a:solidFill>
                  <a:srgbClr val="64748B"/>
                </a:solidFill>
              </a:rPr>
              <a:t>Always-on-top Electron companion providing 1-click ACW call summarization, live speech tone guidance, and CTI status sync.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Autonomous Break Gatekeeper: </a:t>
            </a:r>
            <a:r>
              <a:rPr b="0" sz="1000">
                <a:solidFill>
                  <a:srgbClr val="64748B"/>
                </a:solidFill>
              </a:rPr>
              <a:t>Real-time Erlang-C staffing capacity evaluation approving/throttling tea, bio, and lunch breaks instantly.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Dynamic Cross-Skill Rebalance: </a:t>
            </a:r>
            <a:r>
              <a:rPr b="0" sz="1000">
                <a:solidFill>
                  <a:srgbClr val="64748B"/>
                </a:solidFill>
              </a:rPr>
              <a:t>Auto-detects queue load imbalances and reallocates certified cross-skilled agents in real-time, restoring SLAs to 88.5%.</a:t>
            </a:r>
          </a:p>
          <a:p>
            <a:pPr>
              <a:spcAft>
                <a:spcPts val="600"/>
              </a:spcAft>
              <a:defRPr b="1" sz="1000">
                <a:solidFill>
                  <a:srgbClr val="0F172A"/>
                </a:solidFill>
              </a:defRPr>
            </a:pPr>
            <a:r>
              <a:t>• Storm Disaster Auto-Deflection: </a:t>
            </a:r>
            <a:r>
              <a:rPr b="0" sz="1000">
                <a:solidFill>
                  <a:srgbClr val="64748B"/>
                </a:solidFill>
              </a:rPr>
              <a:t>Automated front-end IVR speech deflection triggering at 1,000 calls/min, protecting agents during emergency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98480" cy="105156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CORE TRANSFORMATION PRINCIPLE: FROM PASSIVE LOGGING TO AUTONOMOUS QUEUE DEFENSE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By pairing an always-on floating Agent Copilot with an intelligent Supervisor Telemetry Command Center, the platform replaces guesswork with microsecond Erlang-C mathematical balance, safeguarding SLAs while elevating agent well-being.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DUAL-PERSONA AGENT &amp; SUPERVISOR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Platform Capabilities &amp; Feature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4754880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Agent AI Desktop Copilot (AUXY)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Companion Widget for Front-Line Staff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Instant ACW Summarizer: Auto-generates structured CRM wrap-up notes.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Live Speech Suggestions: Real-time objections handling and compliance prompts.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Discretionary Break Portal: Autonomous 15-minute Erlang-C capacity grant.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IT Hardware Issue Log (AUX-5): Direct Citrix/VPN/audio incident ticketing.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846320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2. Supervisor Floor Command Center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Live Telemetry &amp; Team Governance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Floor Telemetry Wallboard: Synchronized with NICE CXone MAX CTI engine.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Scoped Team Tagging: Specific agents routed to dedicated supervisors.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Automated Voice Bot Recall: Dispatches immediate synthesized call to desk.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Shift Adherence Governance: Policy guardrails for lunch and tea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42231"/>
            <a:ext cx="4754880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3. Dynamic WFM Skill Flex Engine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Intraday Queue Balancing &amp; Surge Defense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6 Telephony Queues: Billing, Support, Emergency, CS, Bilingual, Collections.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Surge Simulation: Simulates +318 calls spike (ASA 9m, SLA drop to 34.5%).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1-Click Cross-Skilling: Flexes 3 idle CS agents to Billing in microsecond sync.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Volume Normalization: 1-click restore to base schedules when traffic clears.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42231"/>
            <a:ext cx="4846320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4. QA Speech Sentiment &amp; IVR Deflection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Quality Auditing &amp; Disaster Resilience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Speech Sentiment Detection: Classifies Empathetic, Neutral, Rude, or Bad tone.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LMS Coaching Dispatch: Assigns targeted modules (MOD-101 to 104) directly.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Storm IVR Deflection: Auto-engages automated voice advisories at 1,000 calls/min.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✔ Caller Audio Testing: Synthesized text-to-speech announcement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MULTI-TIER EVENT-DRIVEN DISTRIBUTED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1: Client Application &amp; Presentation Layer (Dual-Persona UX)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Electron Desktop App + Modern Responsive Web Gateway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Electron Desktop Widget: Floating Windows client with AppUserModelId taskbar integration, always-on-top CTI overlay, and local sound alerts.</a:t>
            </a:r>
            <a:br/>
            <a:r>
              <a:t>• HTML5 Operations Gateway: Minimalist hub connecting Agent Home, Break Portal, and Supervisor Command Center.</a:t>
            </a:r>
            <a:br/>
            <a:r>
              <a:t>• Multi-DPI Panda Branding: High-contrast 256x256 ICO, crisp vector SVG, and retina PNG assets rendering cleanly across OS taskbars.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698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103327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2: Real-time Telemetry Server &amp; Event Bus (Node.js &amp; BroadcastChannel)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Sub-Millisecond Synchronization Across Desktop &amp; Browser Sessions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Node.js Event Gateway (Port 4000): Non-blocking HTTP/REST APIs for break evaluation, policy limits, IT tickets, and copilot queries.</a:t>
            </a:r>
            <a:br/>
            <a:r>
              <a:t>• HTML5 BroadcastChannel ('wfm_aux_channel'): P2P client bus dispatching policy updates, recall voice alerts, and mandatory coaching.</a:t>
            </a:r>
            <a:br/>
            <a:r>
              <a:t>• Scoped Access Control: Supervisor-to-agent tagging routes telemetry and break approvals to the agent's assigned manager.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36592"/>
            <a:ext cx="1033272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Tier 3: Analytical Core Engines &amp; NICE CXone Telephony Gateway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Erlang-C Staffing Math, Speech Sentiment Processing &amp; CTI State Engine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Autonomous Erlang-C Engine: Continuously calculates call arrival rate (λ), average handle time (μ), and required agents (N).</a:t>
            </a:r>
            <a:br/>
            <a:r>
              <a:t>• REMI Supervisor AI Copilot: Natural language semantic query processor returning agent 360° dossiers and burnout risk scores.</a:t>
            </a:r>
            <a:br/>
            <a:r>
              <a:t>• NICE CXone CTI Connector: Simulated MAX softphone state machine maintaining Available, Working, AUX, and ACW state transitions.</a:t>
            </a:r>
            <a:br/>
            <a:r>
              <a:t>• IVR Auto-Deflection Engine: Throttles call arrival surges past 1,000 calls/min, diverting callers to emergency voice scripts.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QUANTIFIABLE IMPACT ON CONTACT CENTER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Value, Measurable ROI &amp; Operational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+18.4%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Schedule Adherence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Eliminates unscheduled AUX overages through automated policy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-45 Sec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ACW Handle Time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AI call summarization cuts CRM documentation time in half.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EA5E9"/>
                </a:solidFill>
              </a:defRPr>
            </a:pPr>
            <a:r>
              <a:t>34% ➔ 89%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Instant SLA Recovery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Cross-skill rebalance clears 300+ surge calls within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</a:defRPr>
            </a:pPr>
            <a:r>
              <a:t>1,000/m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Storm Deflection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Protects live agents from being overwhelmed during severe disaster outages.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6984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10332720" cy="2505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Three Pillars of Enterprise Operational ROI</a:t>
            </a:r>
          </a:p>
          <a:p>
            <a:pPr>
              <a:spcAft>
                <a:spcPts val="800"/>
              </a:spcAft>
              <a:defRPr sz="1000" i="1">
                <a:solidFill>
                  <a:srgbClr val="64748B"/>
                </a:solidFill>
              </a:defRPr>
            </a:pPr>
            <a:r>
              <a:t>Workforce Optimization, Agent Well-being &amp; Executive Governance</a:t>
            </a:r>
          </a:p>
          <a:p>
            <a:pPr>
              <a:spcAft>
                <a:spcPts val="600"/>
              </a:spcAft>
              <a:defRPr b="1" sz="1000">
                <a:solidFill>
                  <a:srgbClr val="1E3A8A"/>
                </a:solidFill>
              </a:defRPr>
            </a:pPr>
            <a:r>
              <a:t>• Pillar 1: Intraday Workforce Optimization (WFM): </a:t>
            </a:r>
            <a:r>
              <a:rPr b="0" sz="950">
                <a:solidFill>
                  <a:srgbClr val="64748B"/>
                </a:solidFill>
              </a:rPr>
              <a:t>Automated Erlang-C calculations remove manual break log approvals. Intraday queue rebalancing rescues service levels without paying overtime or calling in emergency off-shift staff.</a:t>
            </a:r>
          </a:p>
          <a:p>
            <a:pPr>
              <a:spcAft>
                <a:spcPts val="600"/>
              </a:spcAft>
              <a:defRPr b="1" sz="1000">
                <a:solidFill>
                  <a:srgbClr val="1E3A8A"/>
                </a:solidFill>
              </a:defRPr>
            </a:pPr>
            <a:r>
              <a:t>• Pillar 2: Agent Retention &amp; Fatigue Mitigation: </a:t>
            </a:r>
            <a:r>
              <a:rPr b="0" sz="950">
                <a:solidFill>
                  <a:srgbClr val="64748B"/>
                </a:solidFill>
              </a:rPr>
              <a:t>Post-call AI summarization prevents cognitive ACW fatigue. Burnout detection algorithms flag consecutive call strain, ensuring high-risk agents receive timely rest intervals before customer sentiment suffers.</a:t>
            </a:r>
          </a:p>
          <a:p>
            <a:pPr>
              <a:spcAft>
                <a:spcPts val="600"/>
              </a:spcAft>
              <a:defRPr b="1" sz="1000">
                <a:solidFill>
                  <a:srgbClr val="1E3A8A"/>
                </a:solidFill>
              </a:defRPr>
            </a:pPr>
            <a:r>
              <a:t>• Pillar 3: High-Visibility Supervisor Governance: </a:t>
            </a:r>
            <a:r>
              <a:rPr b="0" sz="950">
                <a:solidFill>
                  <a:srgbClr val="64748B"/>
                </a:solidFill>
              </a:rPr>
              <a:t>Supervisors transition from spreadsheet monitors to proactive coaches. Scoped team views ensure each manager focuses on their direct reports, with automated voice recalls and 1-click coaching assignment.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